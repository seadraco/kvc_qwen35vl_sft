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12" r:id="rId2"/>
    <p:sldId id="392" r:id="rId3"/>
    <p:sldId id="383" r:id="rId4"/>
    <p:sldId id="385" r:id="rId5"/>
    <p:sldId id="386" r:id="rId6"/>
    <p:sldId id="387" r:id="rId7"/>
    <p:sldId id="391" r:id="rId8"/>
    <p:sldId id="393" r:id="rId9"/>
    <p:sldId id="394" r:id="rId10"/>
    <p:sldId id="395" r:id="rId11"/>
    <p:sldId id="389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6" autoAdjust="0"/>
    <p:restoredTop sz="78463" autoAdjust="0"/>
  </p:normalViewPr>
  <p:slideViewPr>
    <p:cSldViewPr snapToGrid="0" showGuides="1">
      <p:cViewPr varScale="1">
        <p:scale>
          <a:sx n="159" d="100"/>
          <a:sy n="159" d="100"/>
        </p:scale>
        <p:origin x="174" y="132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outlineViewPr>
    <p:cViewPr>
      <p:scale>
        <a:sx n="33" d="100"/>
        <a:sy n="33" d="100"/>
      </p:scale>
      <p:origin x="0" y="-216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480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897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CC19-C2E5-1673-2B05-27829D85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4CF18A-4EFD-8DE2-7144-822FBA4EF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FB14C3-04ED-DB5F-8D9B-BDE98A8E9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2165D-1D2F-679A-3BF8-5584A8E26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60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CC19-C2E5-1673-2B05-27829D85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4CF18A-4EFD-8DE2-7144-822FBA4EF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FB14C3-04ED-DB5F-8D9B-BDE98A8E9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2165D-1D2F-679A-3BF8-5584A8E26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6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1A59-CDF2-BC67-481D-38C45DFC5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3120A6-0ED0-0215-FDBC-8A1F417AA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47E895-7EEA-059B-DC80-435911C75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FA75B6-5FAA-AB3C-4AA1-64827B0A8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245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2D69-705F-DCD0-B919-98630420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438D00-10F1-1F55-9154-452A701C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43952A-011B-3350-2612-DE53F7823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C7618F-7709-99F4-6288-F75AC7E0B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64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C3A0-A8B6-72F2-9A9D-47B47A8E3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1A5766-4ECC-7663-F637-87717D10B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287F5F-2B1B-BBB3-FD50-2B68A2AE7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CC4ED-85F3-E4C0-FBDF-C6427A65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717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0747-210C-6C75-120B-5B8B9F6D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C2D817-668E-68CC-7EB4-219B2E813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81E73F-22DF-D512-31C4-04B130E03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18F316-721C-4F2D-AA74-0D0281ED7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560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EF9E-9653-E867-E89E-948BD322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06B9F-B692-5079-08B2-CEAC43F82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BA3BE7-1F2F-BA6A-CCC8-096B0047C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5B6C0-17AB-99B4-5712-4054B75B4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931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5B0F-EE4E-19F7-0DBC-8B594F25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BFB581-2AA7-26B5-DA54-0F9AE208F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0F4056-6472-1EC8-02B5-D59767DB3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A1F522-3B02-2BF0-50A4-52A51552A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145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8AF0-E6DB-87BD-57E8-6A7387BC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7A76E9-9894-374A-64F5-8680BC5C5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9F0726-ED1A-F71B-5477-F9111B7F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454C3-F8EC-EDCB-A803-2558481CE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087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9DB9-5CF4-8DA9-7E96-E71A705E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C2869E-2699-952D-1183-FA85319F0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447734-F283-98C3-55F3-84867C471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7A645-3496-31C0-008A-D0140DA2A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89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3742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46378" y="262631"/>
            <a:ext cx="596597" cy="262959"/>
            <a:chOff x="352728" y="249931"/>
            <a:chExt cx="723900" cy="319070"/>
          </a:xfrm>
        </p:grpSpPr>
        <p:sp>
          <p:nvSpPr>
            <p:cNvPr id="7" name="矩形: 圆角 6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898997" y="2767881"/>
            <a:ext cx="25442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>
                <a:solidFill>
                  <a:schemeClr val="bg1"/>
                </a:solidFill>
                <a:latin typeface="+mj-ea"/>
                <a:ea typeface="+mj-ea"/>
              </a:rPr>
              <a:t>项目汇报</a:t>
            </a:r>
            <a:endParaRPr lang="zh-CN" altLang="en-US" sz="4400" b="1" spc="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04118" y="5214470"/>
            <a:ext cx="261541" cy="229272"/>
            <a:chOff x="1143409" y="5756683"/>
            <a:chExt cx="226164" cy="198260"/>
          </a:xfrm>
          <a:solidFill>
            <a:schemeClr val="accent1"/>
          </a:solidFill>
        </p:grpSpPr>
        <p:sp>
          <p:nvSpPr>
            <p:cNvPr id="3" name="任意多边形: 形状 2"/>
            <p:cNvSpPr/>
            <p:nvPr/>
          </p:nvSpPr>
          <p:spPr>
            <a:xfrm>
              <a:off x="1143409" y="5756683"/>
              <a:ext cx="226164" cy="130990"/>
            </a:xfrm>
            <a:custGeom>
              <a:avLst/>
              <a:gdLst>
                <a:gd name="connsiteX0" fmla="*/ 109937 w 226164"/>
                <a:gd name="connsiteY0" fmla="*/ 130990 h 130990"/>
                <a:gd name="connsiteX1" fmla="*/ 105971 w 226164"/>
                <a:gd name="connsiteY1" fmla="*/ 129954 h 130990"/>
                <a:gd name="connsiteX2" fmla="*/ 4118 w 226164"/>
                <a:gd name="connsiteY2" fmla="*/ 72586 h 130990"/>
                <a:gd name="connsiteX3" fmla="*/ 0 w 226164"/>
                <a:gd name="connsiteY3" fmla="*/ 65538 h 130990"/>
                <a:gd name="connsiteX4" fmla="*/ 4118 w 226164"/>
                <a:gd name="connsiteY4" fmla="*/ 58490 h 130990"/>
                <a:gd name="connsiteX5" fmla="*/ 105971 w 226164"/>
                <a:gd name="connsiteY5" fmla="*/ 1046 h 130990"/>
                <a:gd name="connsiteX6" fmla="*/ 113727 w 226164"/>
                <a:gd name="connsiteY6" fmla="*/ 945 h 130990"/>
                <a:gd name="connsiteX7" fmla="*/ 221870 w 226164"/>
                <a:gd name="connsiteY7" fmla="*/ 58439 h 130990"/>
                <a:gd name="connsiteX8" fmla="*/ 226165 w 226164"/>
                <a:gd name="connsiteY8" fmla="*/ 65588 h 130990"/>
                <a:gd name="connsiteX9" fmla="*/ 221870 w 226164"/>
                <a:gd name="connsiteY9" fmla="*/ 72737 h 130990"/>
                <a:gd name="connsiteX10" fmla="*/ 113701 w 226164"/>
                <a:gd name="connsiteY10" fmla="*/ 130081 h 130990"/>
                <a:gd name="connsiteX11" fmla="*/ 109937 w 226164"/>
                <a:gd name="connsiteY11" fmla="*/ 130990 h 130990"/>
                <a:gd name="connsiteX12" fmla="*/ 24529 w 226164"/>
                <a:gd name="connsiteY12" fmla="*/ 65538 h 130990"/>
                <a:gd name="connsiteX13" fmla="*/ 110038 w 226164"/>
                <a:gd name="connsiteY13" fmla="*/ 113711 h 130990"/>
                <a:gd name="connsiteX14" fmla="*/ 200828 w 226164"/>
                <a:gd name="connsiteY14" fmla="*/ 65563 h 130990"/>
                <a:gd name="connsiteX15" fmla="*/ 110038 w 226164"/>
                <a:gd name="connsiteY15" fmla="*/ 17339 h 130990"/>
                <a:gd name="connsiteX16" fmla="*/ 24529 w 226164"/>
                <a:gd name="connsiteY16" fmla="*/ 65538 h 130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6164" h="130990">
                  <a:moveTo>
                    <a:pt x="109937" y="130990"/>
                  </a:moveTo>
                  <a:cubicBezTo>
                    <a:pt x="108573" y="130990"/>
                    <a:pt x="107209" y="130636"/>
                    <a:pt x="105971" y="129954"/>
                  </a:cubicBezTo>
                  <a:lnTo>
                    <a:pt x="4118" y="72586"/>
                  </a:lnTo>
                  <a:cubicBezTo>
                    <a:pt x="1566" y="71146"/>
                    <a:pt x="0" y="68468"/>
                    <a:pt x="0" y="65538"/>
                  </a:cubicBezTo>
                  <a:cubicBezTo>
                    <a:pt x="0" y="62608"/>
                    <a:pt x="1566" y="59930"/>
                    <a:pt x="4118" y="58490"/>
                  </a:cubicBezTo>
                  <a:lnTo>
                    <a:pt x="105971" y="1046"/>
                  </a:lnTo>
                  <a:cubicBezTo>
                    <a:pt x="108371" y="-318"/>
                    <a:pt x="111301" y="-344"/>
                    <a:pt x="113727" y="945"/>
                  </a:cubicBezTo>
                  <a:lnTo>
                    <a:pt x="221870" y="58439"/>
                  </a:lnTo>
                  <a:cubicBezTo>
                    <a:pt x="224523" y="59854"/>
                    <a:pt x="226165" y="62582"/>
                    <a:pt x="226165" y="65588"/>
                  </a:cubicBezTo>
                  <a:cubicBezTo>
                    <a:pt x="226165" y="68595"/>
                    <a:pt x="224523" y="71323"/>
                    <a:pt x="221870" y="72737"/>
                  </a:cubicBezTo>
                  <a:lnTo>
                    <a:pt x="113701" y="130081"/>
                  </a:lnTo>
                  <a:cubicBezTo>
                    <a:pt x="112539" y="130687"/>
                    <a:pt x="111226" y="130990"/>
                    <a:pt x="109937" y="130990"/>
                  </a:cubicBezTo>
                  <a:close/>
                  <a:moveTo>
                    <a:pt x="24529" y="65538"/>
                  </a:moveTo>
                  <a:lnTo>
                    <a:pt x="110038" y="113711"/>
                  </a:lnTo>
                  <a:lnTo>
                    <a:pt x="200828" y="65563"/>
                  </a:lnTo>
                  <a:lnTo>
                    <a:pt x="110038" y="17339"/>
                  </a:lnTo>
                  <a:lnTo>
                    <a:pt x="24529" y="65538"/>
                  </a:ln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1177840" y="5839828"/>
              <a:ext cx="157302" cy="87858"/>
            </a:xfrm>
            <a:custGeom>
              <a:avLst/>
              <a:gdLst>
                <a:gd name="connsiteX0" fmla="*/ 8084 w 157302"/>
                <a:gd name="connsiteY0" fmla="*/ 87859 h 87858"/>
                <a:gd name="connsiteX1" fmla="*/ 0 w 157302"/>
                <a:gd name="connsiteY1" fmla="*/ 79775 h 87858"/>
                <a:gd name="connsiteX2" fmla="*/ 0 w 157302"/>
                <a:gd name="connsiteY2" fmla="*/ 8084 h 87858"/>
                <a:gd name="connsiteX3" fmla="*/ 8084 w 157302"/>
                <a:gd name="connsiteY3" fmla="*/ 0 h 87858"/>
                <a:gd name="connsiteX4" fmla="*/ 16167 w 157302"/>
                <a:gd name="connsiteY4" fmla="*/ 8084 h 87858"/>
                <a:gd name="connsiteX5" fmla="*/ 16167 w 157302"/>
                <a:gd name="connsiteY5" fmla="*/ 79775 h 87858"/>
                <a:gd name="connsiteX6" fmla="*/ 8084 w 157302"/>
                <a:gd name="connsiteY6" fmla="*/ 87859 h 87858"/>
                <a:gd name="connsiteX7" fmla="*/ 149219 w 157302"/>
                <a:gd name="connsiteY7" fmla="*/ 87859 h 87858"/>
                <a:gd name="connsiteX8" fmla="*/ 141135 w 157302"/>
                <a:gd name="connsiteY8" fmla="*/ 79775 h 87858"/>
                <a:gd name="connsiteX9" fmla="*/ 141135 w 157302"/>
                <a:gd name="connsiteY9" fmla="*/ 8084 h 87858"/>
                <a:gd name="connsiteX10" fmla="*/ 149219 w 157302"/>
                <a:gd name="connsiteY10" fmla="*/ 0 h 87858"/>
                <a:gd name="connsiteX11" fmla="*/ 157302 w 157302"/>
                <a:gd name="connsiteY11" fmla="*/ 8084 h 87858"/>
                <a:gd name="connsiteX12" fmla="*/ 157302 w 157302"/>
                <a:gd name="connsiteY12" fmla="*/ 79775 h 87858"/>
                <a:gd name="connsiteX13" fmla="*/ 149219 w 157302"/>
                <a:gd name="connsiteY13" fmla="*/ 87859 h 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02" h="87858">
                  <a:moveTo>
                    <a:pt x="8084" y="87859"/>
                  </a:moveTo>
                  <a:cubicBezTo>
                    <a:pt x="3612" y="87859"/>
                    <a:pt x="0" y="84247"/>
                    <a:pt x="0" y="79775"/>
                  </a:cubicBezTo>
                  <a:lnTo>
                    <a:pt x="0" y="8084"/>
                  </a:lnTo>
                  <a:cubicBezTo>
                    <a:pt x="0" y="3612"/>
                    <a:pt x="3612" y="0"/>
                    <a:pt x="8084" y="0"/>
                  </a:cubicBezTo>
                  <a:cubicBezTo>
                    <a:pt x="12555" y="0"/>
                    <a:pt x="16167" y="3612"/>
                    <a:pt x="16167" y="8084"/>
                  </a:cubicBezTo>
                  <a:lnTo>
                    <a:pt x="16167" y="79775"/>
                  </a:lnTo>
                  <a:cubicBezTo>
                    <a:pt x="16167" y="84247"/>
                    <a:pt x="12555" y="87859"/>
                    <a:pt x="8084" y="87859"/>
                  </a:cubicBezTo>
                  <a:close/>
                  <a:moveTo>
                    <a:pt x="149219" y="87859"/>
                  </a:moveTo>
                  <a:cubicBezTo>
                    <a:pt x="144747" y="87859"/>
                    <a:pt x="141135" y="84247"/>
                    <a:pt x="141135" y="79775"/>
                  </a:cubicBezTo>
                  <a:lnTo>
                    <a:pt x="141135" y="8084"/>
                  </a:lnTo>
                  <a:cubicBezTo>
                    <a:pt x="141135" y="3612"/>
                    <a:pt x="144747" y="0"/>
                    <a:pt x="149219" y="0"/>
                  </a:cubicBezTo>
                  <a:cubicBezTo>
                    <a:pt x="153690" y="0"/>
                    <a:pt x="157302" y="3612"/>
                    <a:pt x="157302" y="8084"/>
                  </a:cubicBezTo>
                  <a:lnTo>
                    <a:pt x="157302" y="79775"/>
                  </a:lnTo>
                  <a:cubicBezTo>
                    <a:pt x="157302" y="84247"/>
                    <a:pt x="153665" y="87859"/>
                    <a:pt x="149219" y="87859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177840" y="5848391"/>
              <a:ext cx="189459" cy="106552"/>
            </a:xfrm>
            <a:custGeom>
              <a:avLst/>
              <a:gdLst>
                <a:gd name="connsiteX0" fmla="*/ 78639 w 189459"/>
                <a:gd name="connsiteY0" fmla="*/ 106552 h 106552"/>
                <a:gd name="connsiteX1" fmla="*/ 26044 w 189459"/>
                <a:gd name="connsiteY1" fmla="*/ 98747 h 106552"/>
                <a:gd name="connsiteX2" fmla="*/ 8437 w 189459"/>
                <a:gd name="connsiteY2" fmla="*/ 89349 h 106552"/>
                <a:gd name="connsiteX3" fmla="*/ 0 w 189459"/>
                <a:gd name="connsiteY3" fmla="*/ 73409 h 106552"/>
                <a:gd name="connsiteX4" fmla="*/ 8084 w 189459"/>
                <a:gd name="connsiteY4" fmla="*/ 65326 h 106552"/>
                <a:gd name="connsiteX5" fmla="*/ 16167 w 189459"/>
                <a:gd name="connsiteY5" fmla="*/ 73409 h 106552"/>
                <a:gd name="connsiteX6" fmla="*/ 31450 w 189459"/>
                <a:gd name="connsiteY6" fmla="*/ 83539 h 106552"/>
                <a:gd name="connsiteX7" fmla="*/ 78639 w 189459"/>
                <a:gd name="connsiteY7" fmla="*/ 90410 h 106552"/>
                <a:gd name="connsiteX8" fmla="*/ 125827 w 189459"/>
                <a:gd name="connsiteY8" fmla="*/ 83539 h 106552"/>
                <a:gd name="connsiteX9" fmla="*/ 141110 w 189459"/>
                <a:gd name="connsiteY9" fmla="*/ 73409 h 106552"/>
                <a:gd name="connsiteX10" fmla="*/ 149193 w 189459"/>
                <a:gd name="connsiteY10" fmla="*/ 65326 h 106552"/>
                <a:gd name="connsiteX11" fmla="*/ 157277 w 189459"/>
                <a:gd name="connsiteY11" fmla="*/ 73409 h 106552"/>
                <a:gd name="connsiteX12" fmla="*/ 148840 w 189459"/>
                <a:gd name="connsiteY12" fmla="*/ 89349 h 106552"/>
                <a:gd name="connsiteX13" fmla="*/ 131233 w 189459"/>
                <a:gd name="connsiteY13" fmla="*/ 98747 h 106552"/>
                <a:gd name="connsiteX14" fmla="*/ 78639 w 189459"/>
                <a:gd name="connsiteY14" fmla="*/ 106552 h 106552"/>
                <a:gd name="connsiteX15" fmla="*/ 181376 w 189459"/>
                <a:gd name="connsiteY15" fmla="*/ 90183 h 106552"/>
                <a:gd name="connsiteX16" fmla="*/ 173293 w 189459"/>
                <a:gd name="connsiteY16" fmla="*/ 82099 h 106552"/>
                <a:gd name="connsiteX17" fmla="*/ 173293 w 189459"/>
                <a:gd name="connsiteY17" fmla="*/ 8084 h 106552"/>
                <a:gd name="connsiteX18" fmla="*/ 181376 w 189459"/>
                <a:gd name="connsiteY18" fmla="*/ 0 h 106552"/>
                <a:gd name="connsiteX19" fmla="*/ 189460 w 189459"/>
                <a:gd name="connsiteY19" fmla="*/ 8084 h 106552"/>
                <a:gd name="connsiteX20" fmla="*/ 189460 w 189459"/>
                <a:gd name="connsiteY20" fmla="*/ 82099 h 106552"/>
                <a:gd name="connsiteX21" fmla="*/ 181376 w 189459"/>
                <a:gd name="connsiteY21" fmla="*/ 90183 h 1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459" h="106552">
                  <a:moveTo>
                    <a:pt x="78639" y="106552"/>
                  </a:moveTo>
                  <a:cubicBezTo>
                    <a:pt x="58884" y="106552"/>
                    <a:pt x="40216" y="103774"/>
                    <a:pt x="26044" y="98747"/>
                  </a:cubicBezTo>
                  <a:cubicBezTo>
                    <a:pt x="18643" y="96119"/>
                    <a:pt x="12732" y="92962"/>
                    <a:pt x="8437" y="89349"/>
                  </a:cubicBezTo>
                  <a:cubicBezTo>
                    <a:pt x="1465" y="83489"/>
                    <a:pt x="0" y="77451"/>
                    <a:pt x="0" y="73409"/>
                  </a:cubicBezTo>
                  <a:cubicBezTo>
                    <a:pt x="0" y="68938"/>
                    <a:pt x="3612" y="65326"/>
                    <a:pt x="8084" y="65326"/>
                  </a:cubicBezTo>
                  <a:cubicBezTo>
                    <a:pt x="12555" y="65326"/>
                    <a:pt x="16167" y="68938"/>
                    <a:pt x="16167" y="73409"/>
                  </a:cubicBezTo>
                  <a:cubicBezTo>
                    <a:pt x="16167" y="74925"/>
                    <a:pt x="19906" y="79422"/>
                    <a:pt x="31450" y="83539"/>
                  </a:cubicBezTo>
                  <a:cubicBezTo>
                    <a:pt x="43929" y="87985"/>
                    <a:pt x="60678" y="90410"/>
                    <a:pt x="78639" y="90410"/>
                  </a:cubicBezTo>
                  <a:cubicBezTo>
                    <a:pt x="96599" y="90410"/>
                    <a:pt x="113348" y="87960"/>
                    <a:pt x="125827" y="83539"/>
                  </a:cubicBezTo>
                  <a:cubicBezTo>
                    <a:pt x="137371" y="79422"/>
                    <a:pt x="141110" y="74950"/>
                    <a:pt x="141110" y="73409"/>
                  </a:cubicBezTo>
                  <a:cubicBezTo>
                    <a:pt x="141110" y="68938"/>
                    <a:pt x="144722" y="65326"/>
                    <a:pt x="149193" y="65326"/>
                  </a:cubicBezTo>
                  <a:cubicBezTo>
                    <a:pt x="153665" y="65326"/>
                    <a:pt x="157277" y="68938"/>
                    <a:pt x="157277" y="73409"/>
                  </a:cubicBezTo>
                  <a:cubicBezTo>
                    <a:pt x="157277" y="77451"/>
                    <a:pt x="155812" y="83514"/>
                    <a:pt x="148840" y="89349"/>
                  </a:cubicBezTo>
                  <a:cubicBezTo>
                    <a:pt x="144545" y="92962"/>
                    <a:pt x="138609" y="96119"/>
                    <a:pt x="131233" y="98747"/>
                  </a:cubicBezTo>
                  <a:cubicBezTo>
                    <a:pt x="117086" y="103774"/>
                    <a:pt x="98393" y="106552"/>
                    <a:pt x="78639" y="106552"/>
                  </a:cubicBezTo>
                  <a:close/>
                  <a:moveTo>
                    <a:pt x="181376" y="90183"/>
                  </a:moveTo>
                  <a:cubicBezTo>
                    <a:pt x="176905" y="90183"/>
                    <a:pt x="173293" y="86571"/>
                    <a:pt x="173293" y="82099"/>
                  </a:cubicBezTo>
                  <a:lnTo>
                    <a:pt x="173293" y="8084"/>
                  </a:lnTo>
                  <a:cubicBezTo>
                    <a:pt x="173293" y="3612"/>
                    <a:pt x="176905" y="0"/>
                    <a:pt x="181376" y="0"/>
                  </a:cubicBezTo>
                  <a:cubicBezTo>
                    <a:pt x="185848" y="0"/>
                    <a:pt x="189460" y="3612"/>
                    <a:pt x="189460" y="8084"/>
                  </a:cubicBezTo>
                  <a:lnTo>
                    <a:pt x="189460" y="82099"/>
                  </a:lnTo>
                  <a:cubicBezTo>
                    <a:pt x="189460" y="86545"/>
                    <a:pt x="185848" y="90183"/>
                    <a:pt x="181376" y="90183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3356666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</a:t>
            </a:r>
            <a:r>
              <a:rPr lang="zh-CN" altLang="en-US">
                <a:latin typeface="+mn-ea"/>
              </a:rPr>
              <a:t>人：田海龙</a:t>
            </a:r>
            <a:endParaRPr lang="zh-CN" altLang="en-US" dirty="0">
              <a:latin typeface="+mn-ea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6946849" y="5210248"/>
            <a:ext cx="246915" cy="254882"/>
            <a:chOff x="7677146" y="5098017"/>
            <a:chExt cx="892968" cy="921781"/>
          </a:xfrm>
          <a:solidFill>
            <a:schemeClr val="accent1"/>
          </a:solidFill>
        </p:grpSpPr>
        <p:sp>
          <p:nvSpPr>
            <p:cNvPr id="101" name="任意多边形: 形状 100"/>
            <p:cNvSpPr/>
            <p:nvPr/>
          </p:nvSpPr>
          <p:spPr>
            <a:xfrm>
              <a:off x="7836630" y="5476636"/>
              <a:ext cx="574059" cy="427970"/>
            </a:xfrm>
            <a:custGeom>
              <a:avLst/>
              <a:gdLst>
                <a:gd name="connsiteX0" fmla="*/ 334863 w 574059"/>
                <a:gd name="connsiteY0" fmla="*/ 263366 h 427970"/>
                <a:gd name="connsiteX1" fmla="*/ 398562 w 574059"/>
                <a:gd name="connsiteY1" fmla="*/ 263366 h 427970"/>
                <a:gd name="connsiteX2" fmla="*/ 414516 w 574059"/>
                <a:gd name="connsiteY2" fmla="*/ 246876 h 427970"/>
                <a:gd name="connsiteX3" fmla="*/ 414516 w 574059"/>
                <a:gd name="connsiteY3" fmla="*/ 181035 h 427970"/>
                <a:gd name="connsiteX4" fmla="*/ 398562 w 574059"/>
                <a:gd name="connsiteY4" fmla="*/ 164604 h 427970"/>
                <a:gd name="connsiteX5" fmla="*/ 334863 w 574059"/>
                <a:gd name="connsiteY5" fmla="*/ 164604 h 427970"/>
                <a:gd name="connsiteX6" fmla="*/ 318909 w 574059"/>
                <a:gd name="connsiteY6" fmla="*/ 181035 h 427970"/>
                <a:gd name="connsiteX7" fmla="*/ 318909 w 574059"/>
                <a:gd name="connsiteY7" fmla="*/ 246876 h 427970"/>
                <a:gd name="connsiteX8" fmla="*/ 334863 w 574059"/>
                <a:gd name="connsiteY8" fmla="*/ 263366 h 427970"/>
                <a:gd name="connsiteX9" fmla="*/ 334863 w 574059"/>
                <a:gd name="connsiteY9" fmla="*/ 98762 h 427970"/>
                <a:gd name="connsiteX10" fmla="*/ 398562 w 574059"/>
                <a:gd name="connsiteY10" fmla="*/ 98762 h 427970"/>
                <a:gd name="connsiteX11" fmla="*/ 414516 w 574059"/>
                <a:gd name="connsiteY11" fmla="*/ 82272 h 427970"/>
                <a:gd name="connsiteX12" fmla="*/ 414516 w 574059"/>
                <a:gd name="connsiteY12" fmla="*/ 16431 h 427970"/>
                <a:gd name="connsiteX13" fmla="*/ 398562 w 574059"/>
                <a:gd name="connsiteY13" fmla="*/ 0 h 427970"/>
                <a:gd name="connsiteX14" fmla="*/ 334863 w 574059"/>
                <a:gd name="connsiteY14" fmla="*/ 0 h 427970"/>
                <a:gd name="connsiteX15" fmla="*/ 318909 w 574059"/>
                <a:gd name="connsiteY15" fmla="*/ 16431 h 427970"/>
                <a:gd name="connsiteX16" fmla="*/ 318909 w 574059"/>
                <a:gd name="connsiteY16" fmla="*/ 82272 h 427970"/>
                <a:gd name="connsiteX17" fmla="*/ 334863 w 574059"/>
                <a:gd name="connsiteY17" fmla="*/ 98762 h 427970"/>
                <a:gd name="connsiteX18" fmla="*/ 494288 w 574059"/>
                <a:gd name="connsiteY18" fmla="*/ 98762 h 427970"/>
                <a:gd name="connsiteX19" fmla="*/ 558106 w 574059"/>
                <a:gd name="connsiteY19" fmla="*/ 98762 h 427970"/>
                <a:gd name="connsiteX20" fmla="*/ 574060 w 574059"/>
                <a:gd name="connsiteY20" fmla="*/ 82272 h 427970"/>
                <a:gd name="connsiteX21" fmla="*/ 574060 w 574059"/>
                <a:gd name="connsiteY21" fmla="*/ 16431 h 427970"/>
                <a:gd name="connsiteX22" fmla="*/ 558106 w 574059"/>
                <a:gd name="connsiteY22" fmla="*/ 0 h 427970"/>
                <a:gd name="connsiteX23" fmla="*/ 494288 w 574059"/>
                <a:gd name="connsiteY23" fmla="*/ 0 h 427970"/>
                <a:gd name="connsiteX24" fmla="*/ 478334 w 574059"/>
                <a:gd name="connsiteY24" fmla="*/ 16431 h 427970"/>
                <a:gd name="connsiteX25" fmla="*/ 478334 w 574059"/>
                <a:gd name="connsiteY25" fmla="*/ 82272 h 427970"/>
                <a:gd name="connsiteX26" fmla="*/ 494288 w 574059"/>
                <a:gd name="connsiteY26" fmla="*/ 98762 h 427970"/>
                <a:gd name="connsiteX27" fmla="*/ 175379 w 574059"/>
                <a:gd name="connsiteY27" fmla="*/ 98762 h 427970"/>
                <a:gd name="connsiteX28" fmla="*/ 239197 w 574059"/>
                <a:gd name="connsiteY28" fmla="*/ 98762 h 427970"/>
                <a:gd name="connsiteX29" fmla="*/ 255091 w 574059"/>
                <a:gd name="connsiteY29" fmla="*/ 82272 h 427970"/>
                <a:gd name="connsiteX30" fmla="*/ 255091 w 574059"/>
                <a:gd name="connsiteY30" fmla="*/ 16431 h 427970"/>
                <a:gd name="connsiteX31" fmla="*/ 239197 w 574059"/>
                <a:gd name="connsiteY31" fmla="*/ 0 h 427970"/>
                <a:gd name="connsiteX32" fmla="*/ 175320 w 574059"/>
                <a:gd name="connsiteY32" fmla="*/ 0 h 427970"/>
                <a:gd name="connsiteX33" fmla="*/ 159365 w 574059"/>
                <a:gd name="connsiteY33" fmla="*/ 16431 h 427970"/>
                <a:gd name="connsiteX34" fmla="*/ 159365 w 574059"/>
                <a:gd name="connsiteY34" fmla="*/ 82272 h 427970"/>
                <a:gd name="connsiteX35" fmla="*/ 175320 w 574059"/>
                <a:gd name="connsiteY35" fmla="*/ 98762 h 427970"/>
                <a:gd name="connsiteX36" fmla="*/ 494288 w 574059"/>
                <a:gd name="connsiteY36" fmla="*/ 263366 h 427970"/>
                <a:gd name="connsiteX37" fmla="*/ 558106 w 574059"/>
                <a:gd name="connsiteY37" fmla="*/ 263366 h 427970"/>
                <a:gd name="connsiteX38" fmla="*/ 574060 w 574059"/>
                <a:gd name="connsiteY38" fmla="*/ 246876 h 427970"/>
                <a:gd name="connsiteX39" fmla="*/ 574060 w 574059"/>
                <a:gd name="connsiteY39" fmla="*/ 181035 h 427970"/>
                <a:gd name="connsiteX40" fmla="*/ 558106 w 574059"/>
                <a:gd name="connsiteY40" fmla="*/ 164604 h 427970"/>
                <a:gd name="connsiteX41" fmla="*/ 494288 w 574059"/>
                <a:gd name="connsiteY41" fmla="*/ 164604 h 427970"/>
                <a:gd name="connsiteX42" fmla="*/ 478334 w 574059"/>
                <a:gd name="connsiteY42" fmla="*/ 181035 h 427970"/>
                <a:gd name="connsiteX43" fmla="*/ 478334 w 574059"/>
                <a:gd name="connsiteY43" fmla="*/ 246876 h 427970"/>
                <a:gd name="connsiteX44" fmla="*/ 494288 w 574059"/>
                <a:gd name="connsiteY44" fmla="*/ 263366 h 427970"/>
                <a:gd name="connsiteX45" fmla="*/ 494288 w 574059"/>
                <a:gd name="connsiteY45" fmla="*/ 427970 h 427970"/>
                <a:gd name="connsiteX46" fmla="*/ 558106 w 574059"/>
                <a:gd name="connsiteY46" fmla="*/ 427970 h 427970"/>
                <a:gd name="connsiteX47" fmla="*/ 574060 w 574059"/>
                <a:gd name="connsiteY47" fmla="*/ 411480 h 427970"/>
                <a:gd name="connsiteX48" fmla="*/ 574060 w 574059"/>
                <a:gd name="connsiteY48" fmla="*/ 345638 h 427970"/>
                <a:gd name="connsiteX49" fmla="*/ 558106 w 574059"/>
                <a:gd name="connsiteY49" fmla="*/ 329208 h 427970"/>
                <a:gd name="connsiteX50" fmla="*/ 494288 w 574059"/>
                <a:gd name="connsiteY50" fmla="*/ 329208 h 427970"/>
                <a:gd name="connsiteX51" fmla="*/ 478334 w 574059"/>
                <a:gd name="connsiteY51" fmla="*/ 345638 h 427970"/>
                <a:gd name="connsiteX52" fmla="*/ 478334 w 574059"/>
                <a:gd name="connsiteY52" fmla="*/ 411480 h 427970"/>
                <a:gd name="connsiteX53" fmla="*/ 494288 w 574059"/>
                <a:gd name="connsiteY53" fmla="*/ 427970 h 427970"/>
                <a:gd name="connsiteX54" fmla="*/ 334863 w 574059"/>
                <a:gd name="connsiteY54" fmla="*/ 427970 h 427970"/>
                <a:gd name="connsiteX55" fmla="*/ 398562 w 574059"/>
                <a:gd name="connsiteY55" fmla="*/ 427970 h 427970"/>
                <a:gd name="connsiteX56" fmla="*/ 414516 w 574059"/>
                <a:gd name="connsiteY56" fmla="*/ 411480 h 427970"/>
                <a:gd name="connsiteX57" fmla="*/ 414516 w 574059"/>
                <a:gd name="connsiteY57" fmla="*/ 345638 h 427970"/>
                <a:gd name="connsiteX58" fmla="*/ 398562 w 574059"/>
                <a:gd name="connsiteY58" fmla="*/ 329208 h 427970"/>
                <a:gd name="connsiteX59" fmla="*/ 334863 w 574059"/>
                <a:gd name="connsiteY59" fmla="*/ 329208 h 427970"/>
                <a:gd name="connsiteX60" fmla="*/ 318909 w 574059"/>
                <a:gd name="connsiteY60" fmla="*/ 345638 h 427970"/>
                <a:gd name="connsiteX61" fmla="*/ 318909 w 574059"/>
                <a:gd name="connsiteY61" fmla="*/ 411480 h 427970"/>
                <a:gd name="connsiteX62" fmla="*/ 334863 w 574059"/>
                <a:gd name="connsiteY62" fmla="*/ 427970 h 427970"/>
                <a:gd name="connsiteX63" fmla="*/ 15954 w 574059"/>
                <a:gd name="connsiteY63" fmla="*/ 427970 h 427970"/>
                <a:gd name="connsiteX64" fmla="*/ 79712 w 574059"/>
                <a:gd name="connsiteY64" fmla="*/ 427970 h 427970"/>
                <a:gd name="connsiteX65" fmla="*/ 95667 w 574059"/>
                <a:gd name="connsiteY65" fmla="*/ 411480 h 427970"/>
                <a:gd name="connsiteX66" fmla="*/ 95667 w 574059"/>
                <a:gd name="connsiteY66" fmla="*/ 345638 h 427970"/>
                <a:gd name="connsiteX67" fmla="*/ 79712 w 574059"/>
                <a:gd name="connsiteY67" fmla="*/ 329208 h 427970"/>
                <a:gd name="connsiteX68" fmla="*/ 15954 w 574059"/>
                <a:gd name="connsiteY68" fmla="*/ 329208 h 427970"/>
                <a:gd name="connsiteX69" fmla="*/ 0 w 574059"/>
                <a:gd name="connsiteY69" fmla="*/ 345638 h 427970"/>
                <a:gd name="connsiteX70" fmla="*/ 0 w 574059"/>
                <a:gd name="connsiteY70" fmla="*/ 411480 h 427970"/>
                <a:gd name="connsiteX71" fmla="*/ 15954 w 574059"/>
                <a:gd name="connsiteY71" fmla="*/ 427970 h 427970"/>
                <a:gd name="connsiteX72" fmla="*/ 15954 w 574059"/>
                <a:gd name="connsiteY72" fmla="*/ 263366 h 427970"/>
                <a:gd name="connsiteX73" fmla="*/ 79712 w 574059"/>
                <a:gd name="connsiteY73" fmla="*/ 263366 h 427970"/>
                <a:gd name="connsiteX74" fmla="*/ 95667 w 574059"/>
                <a:gd name="connsiteY74" fmla="*/ 246876 h 427970"/>
                <a:gd name="connsiteX75" fmla="*/ 95667 w 574059"/>
                <a:gd name="connsiteY75" fmla="*/ 181035 h 427970"/>
                <a:gd name="connsiteX76" fmla="*/ 79712 w 574059"/>
                <a:gd name="connsiteY76" fmla="*/ 164604 h 427970"/>
                <a:gd name="connsiteX77" fmla="*/ 15954 w 574059"/>
                <a:gd name="connsiteY77" fmla="*/ 164604 h 427970"/>
                <a:gd name="connsiteX78" fmla="*/ 0 w 574059"/>
                <a:gd name="connsiteY78" fmla="*/ 181035 h 427970"/>
                <a:gd name="connsiteX79" fmla="*/ 0 w 574059"/>
                <a:gd name="connsiteY79" fmla="*/ 246876 h 427970"/>
                <a:gd name="connsiteX80" fmla="*/ 15954 w 574059"/>
                <a:gd name="connsiteY80" fmla="*/ 263366 h 42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74059" h="427970">
                  <a:moveTo>
                    <a:pt x="334863" y="263366"/>
                  </a:moveTo>
                  <a:lnTo>
                    <a:pt x="398562" y="263366"/>
                  </a:lnTo>
                  <a:cubicBezTo>
                    <a:pt x="408087" y="263366"/>
                    <a:pt x="414516" y="256818"/>
                    <a:pt x="414516" y="246876"/>
                  </a:cubicBezTo>
                  <a:lnTo>
                    <a:pt x="414516" y="181035"/>
                  </a:lnTo>
                  <a:cubicBezTo>
                    <a:pt x="414516" y="171152"/>
                    <a:pt x="408146" y="164604"/>
                    <a:pt x="398562" y="164604"/>
                  </a:cubicBezTo>
                  <a:lnTo>
                    <a:pt x="334863" y="164604"/>
                  </a:lnTo>
                  <a:cubicBezTo>
                    <a:pt x="325279" y="164604"/>
                    <a:pt x="318909" y="171152"/>
                    <a:pt x="318909" y="181035"/>
                  </a:cubicBezTo>
                  <a:lnTo>
                    <a:pt x="318909" y="246876"/>
                  </a:lnTo>
                  <a:cubicBezTo>
                    <a:pt x="318909" y="256758"/>
                    <a:pt x="325279" y="263366"/>
                    <a:pt x="334863" y="263366"/>
                  </a:cubicBezTo>
                  <a:close/>
                  <a:moveTo>
                    <a:pt x="334863" y="98762"/>
                  </a:moveTo>
                  <a:lnTo>
                    <a:pt x="398562" y="98762"/>
                  </a:lnTo>
                  <a:cubicBezTo>
                    <a:pt x="408087" y="98762"/>
                    <a:pt x="414516" y="92214"/>
                    <a:pt x="414516" y="82272"/>
                  </a:cubicBezTo>
                  <a:lnTo>
                    <a:pt x="414516" y="16431"/>
                  </a:lnTo>
                  <a:cubicBezTo>
                    <a:pt x="414516" y="6548"/>
                    <a:pt x="408146" y="0"/>
                    <a:pt x="398562" y="0"/>
                  </a:cubicBezTo>
                  <a:lnTo>
                    <a:pt x="334863" y="0"/>
                  </a:lnTo>
                  <a:cubicBezTo>
                    <a:pt x="325279" y="0"/>
                    <a:pt x="318909" y="6548"/>
                    <a:pt x="318909" y="16431"/>
                  </a:cubicBezTo>
                  <a:lnTo>
                    <a:pt x="318909" y="82272"/>
                  </a:lnTo>
                  <a:cubicBezTo>
                    <a:pt x="318909" y="92154"/>
                    <a:pt x="325279" y="98762"/>
                    <a:pt x="334863" y="98762"/>
                  </a:cubicBezTo>
                  <a:close/>
                  <a:moveTo>
                    <a:pt x="494288" y="98762"/>
                  </a:moveTo>
                  <a:lnTo>
                    <a:pt x="558106" y="98762"/>
                  </a:lnTo>
                  <a:cubicBezTo>
                    <a:pt x="567630" y="98762"/>
                    <a:pt x="574060" y="92214"/>
                    <a:pt x="574060" y="82272"/>
                  </a:cubicBezTo>
                  <a:lnTo>
                    <a:pt x="574060" y="16431"/>
                  </a:lnTo>
                  <a:cubicBezTo>
                    <a:pt x="574060" y="6548"/>
                    <a:pt x="567630" y="0"/>
                    <a:pt x="558106" y="0"/>
                  </a:cubicBezTo>
                  <a:lnTo>
                    <a:pt x="494288" y="0"/>
                  </a:lnTo>
                  <a:cubicBezTo>
                    <a:pt x="484763" y="0"/>
                    <a:pt x="478334" y="6548"/>
                    <a:pt x="478334" y="16431"/>
                  </a:cubicBezTo>
                  <a:lnTo>
                    <a:pt x="478334" y="82272"/>
                  </a:lnTo>
                  <a:cubicBezTo>
                    <a:pt x="478334" y="92154"/>
                    <a:pt x="484763" y="98762"/>
                    <a:pt x="494288" y="98762"/>
                  </a:cubicBezTo>
                  <a:close/>
                  <a:moveTo>
                    <a:pt x="175379" y="98762"/>
                  </a:moveTo>
                  <a:lnTo>
                    <a:pt x="239197" y="98762"/>
                  </a:lnTo>
                  <a:cubicBezTo>
                    <a:pt x="248722" y="98762"/>
                    <a:pt x="255091" y="92214"/>
                    <a:pt x="255091" y="82272"/>
                  </a:cubicBezTo>
                  <a:lnTo>
                    <a:pt x="255091" y="16431"/>
                  </a:lnTo>
                  <a:cubicBezTo>
                    <a:pt x="255091" y="6548"/>
                    <a:pt x="248722" y="0"/>
                    <a:pt x="239197" y="0"/>
                  </a:cubicBezTo>
                  <a:lnTo>
                    <a:pt x="175320" y="0"/>
                  </a:lnTo>
                  <a:cubicBezTo>
                    <a:pt x="165795" y="0"/>
                    <a:pt x="159365" y="6548"/>
                    <a:pt x="159365" y="16431"/>
                  </a:cubicBezTo>
                  <a:lnTo>
                    <a:pt x="159365" y="82272"/>
                  </a:lnTo>
                  <a:cubicBezTo>
                    <a:pt x="159365" y="92154"/>
                    <a:pt x="165735" y="98762"/>
                    <a:pt x="175320" y="98762"/>
                  </a:cubicBezTo>
                  <a:close/>
                  <a:moveTo>
                    <a:pt x="494288" y="263366"/>
                  </a:moveTo>
                  <a:lnTo>
                    <a:pt x="558106" y="263366"/>
                  </a:lnTo>
                  <a:cubicBezTo>
                    <a:pt x="567630" y="263366"/>
                    <a:pt x="574060" y="256818"/>
                    <a:pt x="574060" y="246876"/>
                  </a:cubicBezTo>
                  <a:lnTo>
                    <a:pt x="574060" y="181035"/>
                  </a:lnTo>
                  <a:cubicBezTo>
                    <a:pt x="574060" y="171152"/>
                    <a:pt x="567630" y="164604"/>
                    <a:pt x="558106" y="164604"/>
                  </a:cubicBezTo>
                  <a:lnTo>
                    <a:pt x="494288" y="164604"/>
                  </a:lnTo>
                  <a:cubicBezTo>
                    <a:pt x="484763" y="164604"/>
                    <a:pt x="478334" y="171152"/>
                    <a:pt x="478334" y="181035"/>
                  </a:cubicBezTo>
                  <a:lnTo>
                    <a:pt x="478334" y="246876"/>
                  </a:lnTo>
                  <a:cubicBezTo>
                    <a:pt x="478334" y="256758"/>
                    <a:pt x="484763" y="263366"/>
                    <a:pt x="494288" y="263366"/>
                  </a:cubicBezTo>
                  <a:close/>
                  <a:moveTo>
                    <a:pt x="494288" y="427970"/>
                  </a:moveTo>
                  <a:lnTo>
                    <a:pt x="558106" y="427970"/>
                  </a:lnTo>
                  <a:cubicBezTo>
                    <a:pt x="567630" y="427970"/>
                    <a:pt x="574060" y="421422"/>
                    <a:pt x="574060" y="411480"/>
                  </a:cubicBezTo>
                  <a:lnTo>
                    <a:pt x="574060" y="345638"/>
                  </a:lnTo>
                  <a:cubicBezTo>
                    <a:pt x="574060" y="335756"/>
                    <a:pt x="567630" y="329208"/>
                    <a:pt x="558106" y="329208"/>
                  </a:cubicBezTo>
                  <a:lnTo>
                    <a:pt x="494288" y="329208"/>
                  </a:lnTo>
                  <a:cubicBezTo>
                    <a:pt x="484763" y="329208"/>
                    <a:pt x="478334" y="335756"/>
                    <a:pt x="478334" y="345638"/>
                  </a:cubicBezTo>
                  <a:lnTo>
                    <a:pt x="478334" y="411480"/>
                  </a:lnTo>
                  <a:cubicBezTo>
                    <a:pt x="478334" y="421362"/>
                    <a:pt x="484763" y="427970"/>
                    <a:pt x="494288" y="427970"/>
                  </a:cubicBezTo>
                  <a:close/>
                  <a:moveTo>
                    <a:pt x="334863" y="427970"/>
                  </a:moveTo>
                  <a:lnTo>
                    <a:pt x="398562" y="427970"/>
                  </a:lnTo>
                  <a:cubicBezTo>
                    <a:pt x="408087" y="427970"/>
                    <a:pt x="414516" y="421422"/>
                    <a:pt x="414516" y="411480"/>
                  </a:cubicBezTo>
                  <a:lnTo>
                    <a:pt x="414516" y="345638"/>
                  </a:lnTo>
                  <a:cubicBezTo>
                    <a:pt x="414516" y="335756"/>
                    <a:pt x="408146" y="329208"/>
                    <a:pt x="398562" y="329208"/>
                  </a:cubicBezTo>
                  <a:lnTo>
                    <a:pt x="334863" y="329208"/>
                  </a:lnTo>
                  <a:cubicBezTo>
                    <a:pt x="325279" y="329208"/>
                    <a:pt x="318909" y="335756"/>
                    <a:pt x="318909" y="345638"/>
                  </a:cubicBezTo>
                  <a:lnTo>
                    <a:pt x="318909" y="411480"/>
                  </a:lnTo>
                  <a:cubicBezTo>
                    <a:pt x="318909" y="421362"/>
                    <a:pt x="325279" y="427970"/>
                    <a:pt x="334863" y="427970"/>
                  </a:cubicBezTo>
                  <a:close/>
                  <a:moveTo>
                    <a:pt x="15954" y="427970"/>
                  </a:moveTo>
                  <a:lnTo>
                    <a:pt x="79712" y="427970"/>
                  </a:lnTo>
                  <a:cubicBezTo>
                    <a:pt x="89237" y="427970"/>
                    <a:pt x="95667" y="421422"/>
                    <a:pt x="95667" y="411480"/>
                  </a:cubicBezTo>
                  <a:lnTo>
                    <a:pt x="95667" y="345638"/>
                  </a:lnTo>
                  <a:cubicBezTo>
                    <a:pt x="95667" y="335756"/>
                    <a:pt x="89297" y="329208"/>
                    <a:pt x="79712" y="329208"/>
                  </a:cubicBezTo>
                  <a:lnTo>
                    <a:pt x="15954" y="329208"/>
                  </a:lnTo>
                  <a:cubicBezTo>
                    <a:pt x="6370" y="329208"/>
                    <a:pt x="0" y="335756"/>
                    <a:pt x="0" y="345638"/>
                  </a:cubicBezTo>
                  <a:lnTo>
                    <a:pt x="0" y="411480"/>
                  </a:lnTo>
                  <a:cubicBezTo>
                    <a:pt x="0" y="421362"/>
                    <a:pt x="6370" y="427970"/>
                    <a:pt x="15954" y="427970"/>
                  </a:cubicBezTo>
                  <a:close/>
                  <a:moveTo>
                    <a:pt x="15954" y="263366"/>
                  </a:moveTo>
                  <a:lnTo>
                    <a:pt x="79712" y="263366"/>
                  </a:lnTo>
                  <a:cubicBezTo>
                    <a:pt x="89237" y="263366"/>
                    <a:pt x="95667" y="256818"/>
                    <a:pt x="95667" y="246876"/>
                  </a:cubicBezTo>
                  <a:lnTo>
                    <a:pt x="95667" y="181035"/>
                  </a:lnTo>
                  <a:cubicBezTo>
                    <a:pt x="95667" y="171152"/>
                    <a:pt x="89297" y="164604"/>
                    <a:pt x="79712" y="164604"/>
                  </a:cubicBezTo>
                  <a:lnTo>
                    <a:pt x="15954" y="164604"/>
                  </a:lnTo>
                  <a:cubicBezTo>
                    <a:pt x="6370" y="164604"/>
                    <a:pt x="0" y="171152"/>
                    <a:pt x="0" y="181035"/>
                  </a:cubicBezTo>
                  <a:lnTo>
                    <a:pt x="0" y="246876"/>
                  </a:lnTo>
                  <a:cubicBezTo>
                    <a:pt x="0" y="256758"/>
                    <a:pt x="6370" y="263366"/>
                    <a:pt x="15954" y="263366"/>
                  </a:cubicBez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7677146" y="5098017"/>
              <a:ext cx="892968" cy="921781"/>
            </a:xfrm>
            <a:custGeom>
              <a:avLst/>
              <a:gdLst>
                <a:gd name="connsiteX0" fmla="*/ 829211 w 892968"/>
                <a:gd name="connsiteY0" fmla="*/ 65842 h 921781"/>
                <a:gd name="connsiteX1" fmla="*/ 701635 w 892968"/>
                <a:gd name="connsiteY1" fmla="*/ 65842 h 921781"/>
                <a:gd name="connsiteX2" fmla="*/ 701635 w 892968"/>
                <a:gd name="connsiteY2" fmla="*/ 32921 h 921781"/>
                <a:gd name="connsiteX3" fmla="*/ 669727 w 892968"/>
                <a:gd name="connsiteY3" fmla="*/ 0 h 921781"/>
                <a:gd name="connsiteX4" fmla="*/ 637818 w 892968"/>
                <a:gd name="connsiteY4" fmla="*/ 32921 h 921781"/>
                <a:gd name="connsiteX5" fmla="*/ 637818 w 892968"/>
                <a:gd name="connsiteY5" fmla="*/ 65842 h 921781"/>
                <a:gd name="connsiteX6" fmla="*/ 255151 w 892968"/>
                <a:gd name="connsiteY6" fmla="*/ 65842 h 921781"/>
                <a:gd name="connsiteX7" fmla="*/ 255151 w 892968"/>
                <a:gd name="connsiteY7" fmla="*/ 32921 h 921781"/>
                <a:gd name="connsiteX8" fmla="*/ 223242 w 892968"/>
                <a:gd name="connsiteY8" fmla="*/ 0 h 921781"/>
                <a:gd name="connsiteX9" fmla="*/ 191333 w 892968"/>
                <a:gd name="connsiteY9" fmla="*/ 32921 h 921781"/>
                <a:gd name="connsiteX10" fmla="*/ 191333 w 892968"/>
                <a:gd name="connsiteY10" fmla="*/ 65842 h 921781"/>
                <a:gd name="connsiteX11" fmla="*/ 63818 w 892968"/>
                <a:gd name="connsiteY11" fmla="*/ 65842 h 921781"/>
                <a:gd name="connsiteX12" fmla="*/ 0 w 892968"/>
                <a:gd name="connsiteY12" fmla="*/ 131683 h 921781"/>
                <a:gd name="connsiteX13" fmla="*/ 0 w 892968"/>
                <a:gd name="connsiteY13" fmla="*/ 855940 h 921781"/>
                <a:gd name="connsiteX14" fmla="*/ 63818 w 892968"/>
                <a:gd name="connsiteY14" fmla="*/ 921782 h 921781"/>
                <a:gd name="connsiteX15" fmla="*/ 829211 w 892968"/>
                <a:gd name="connsiteY15" fmla="*/ 921782 h 921781"/>
                <a:gd name="connsiteX16" fmla="*/ 892969 w 892968"/>
                <a:gd name="connsiteY16" fmla="*/ 855940 h 921781"/>
                <a:gd name="connsiteX17" fmla="*/ 892969 w 892968"/>
                <a:gd name="connsiteY17" fmla="*/ 131683 h 921781"/>
                <a:gd name="connsiteX18" fmla="*/ 829211 w 892968"/>
                <a:gd name="connsiteY18" fmla="*/ 65842 h 921781"/>
                <a:gd name="connsiteX19" fmla="*/ 829211 w 892968"/>
                <a:gd name="connsiteY19" fmla="*/ 823079 h 921781"/>
                <a:gd name="connsiteX20" fmla="*/ 797302 w 892968"/>
                <a:gd name="connsiteY20" fmla="*/ 855940 h 921781"/>
                <a:gd name="connsiteX21" fmla="*/ 95667 w 892968"/>
                <a:gd name="connsiteY21" fmla="*/ 855940 h 921781"/>
                <a:gd name="connsiteX22" fmla="*/ 63818 w 892968"/>
                <a:gd name="connsiteY22" fmla="*/ 823020 h 921781"/>
                <a:gd name="connsiteX23" fmla="*/ 63818 w 892968"/>
                <a:gd name="connsiteY23" fmla="*/ 312777 h 921781"/>
                <a:gd name="connsiteX24" fmla="*/ 829211 w 892968"/>
                <a:gd name="connsiteY24" fmla="*/ 312777 h 921781"/>
                <a:gd name="connsiteX25" fmla="*/ 829211 w 892968"/>
                <a:gd name="connsiteY25" fmla="*/ 823020 h 921781"/>
                <a:gd name="connsiteX26" fmla="*/ 829211 w 892968"/>
                <a:gd name="connsiteY26" fmla="*/ 246936 h 921781"/>
                <a:gd name="connsiteX27" fmla="*/ 63818 w 892968"/>
                <a:gd name="connsiteY27" fmla="*/ 246936 h 921781"/>
                <a:gd name="connsiteX28" fmla="*/ 63818 w 892968"/>
                <a:gd name="connsiteY28" fmla="*/ 164604 h 921781"/>
                <a:gd name="connsiteX29" fmla="*/ 95667 w 892968"/>
                <a:gd name="connsiteY29" fmla="*/ 131683 h 921781"/>
                <a:gd name="connsiteX30" fmla="*/ 191333 w 892968"/>
                <a:gd name="connsiteY30" fmla="*/ 131683 h 921781"/>
                <a:gd name="connsiteX31" fmla="*/ 191333 w 892968"/>
                <a:gd name="connsiteY31" fmla="*/ 164604 h 921781"/>
                <a:gd name="connsiteX32" fmla="*/ 223242 w 892968"/>
                <a:gd name="connsiteY32" fmla="*/ 197525 h 921781"/>
                <a:gd name="connsiteX33" fmla="*/ 255151 w 892968"/>
                <a:gd name="connsiteY33" fmla="*/ 164604 h 921781"/>
                <a:gd name="connsiteX34" fmla="*/ 255151 w 892968"/>
                <a:gd name="connsiteY34" fmla="*/ 131683 h 921781"/>
                <a:gd name="connsiteX35" fmla="*/ 637818 w 892968"/>
                <a:gd name="connsiteY35" fmla="*/ 131683 h 921781"/>
                <a:gd name="connsiteX36" fmla="*/ 637818 w 892968"/>
                <a:gd name="connsiteY36" fmla="*/ 164604 h 921781"/>
                <a:gd name="connsiteX37" fmla="*/ 669727 w 892968"/>
                <a:gd name="connsiteY37" fmla="*/ 197525 h 921781"/>
                <a:gd name="connsiteX38" fmla="*/ 701635 w 892968"/>
                <a:gd name="connsiteY38" fmla="*/ 164604 h 921781"/>
                <a:gd name="connsiteX39" fmla="*/ 701635 w 892968"/>
                <a:gd name="connsiteY39" fmla="*/ 131683 h 921781"/>
                <a:gd name="connsiteX40" fmla="*/ 797302 w 892968"/>
                <a:gd name="connsiteY40" fmla="*/ 131683 h 921781"/>
                <a:gd name="connsiteX41" fmla="*/ 829211 w 892968"/>
                <a:gd name="connsiteY41" fmla="*/ 164604 h 921781"/>
                <a:gd name="connsiteX42" fmla="*/ 829211 w 892968"/>
                <a:gd name="connsiteY42" fmla="*/ 246936 h 92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92968" h="921781">
                  <a:moveTo>
                    <a:pt x="829211" y="65842"/>
                  </a:moveTo>
                  <a:lnTo>
                    <a:pt x="701635" y="65842"/>
                  </a:lnTo>
                  <a:lnTo>
                    <a:pt x="701635" y="32921"/>
                  </a:lnTo>
                  <a:cubicBezTo>
                    <a:pt x="701635" y="16490"/>
                    <a:pt x="688896" y="0"/>
                    <a:pt x="669727" y="0"/>
                  </a:cubicBezTo>
                  <a:cubicBezTo>
                    <a:pt x="650617" y="0"/>
                    <a:pt x="637818" y="13156"/>
                    <a:pt x="637818" y="32921"/>
                  </a:cubicBezTo>
                  <a:lnTo>
                    <a:pt x="637818" y="65842"/>
                  </a:lnTo>
                  <a:lnTo>
                    <a:pt x="255151" y="65842"/>
                  </a:lnTo>
                  <a:lnTo>
                    <a:pt x="255151" y="32921"/>
                  </a:lnTo>
                  <a:cubicBezTo>
                    <a:pt x="255151" y="16490"/>
                    <a:pt x="242411" y="0"/>
                    <a:pt x="223242" y="0"/>
                  </a:cubicBezTo>
                  <a:cubicBezTo>
                    <a:pt x="204133" y="0"/>
                    <a:pt x="191333" y="13156"/>
                    <a:pt x="191333" y="32921"/>
                  </a:cubicBezTo>
                  <a:lnTo>
                    <a:pt x="191333" y="65842"/>
                  </a:lnTo>
                  <a:lnTo>
                    <a:pt x="63818" y="65842"/>
                  </a:lnTo>
                  <a:cubicBezTo>
                    <a:pt x="28694" y="65842"/>
                    <a:pt x="0" y="95488"/>
                    <a:pt x="0" y="131683"/>
                  </a:cubicBezTo>
                  <a:lnTo>
                    <a:pt x="0" y="855940"/>
                  </a:lnTo>
                  <a:cubicBezTo>
                    <a:pt x="0" y="892195"/>
                    <a:pt x="28694" y="921782"/>
                    <a:pt x="63818" y="921782"/>
                  </a:cubicBezTo>
                  <a:lnTo>
                    <a:pt x="829211" y="921782"/>
                  </a:lnTo>
                  <a:cubicBezTo>
                    <a:pt x="864334" y="921782"/>
                    <a:pt x="892969" y="892195"/>
                    <a:pt x="892969" y="855940"/>
                  </a:cubicBezTo>
                  <a:lnTo>
                    <a:pt x="892969" y="131683"/>
                  </a:lnTo>
                  <a:cubicBezTo>
                    <a:pt x="892969" y="95488"/>
                    <a:pt x="864275" y="65842"/>
                    <a:pt x="829211" y="65842"/>
                  </a:cubicBezTo>
                  <a:close/>
                  <a:moveTo>
                    <a:pt x="829211" y="823079"/>
                  </a:moveTo>
                  <a:cubicBezTo>
                    <a:pt x="829211" y="842784"/>
                    <a:pt x="816412" y="855940"/>
                    <a:pt x="797302" y="855940"/>
                  </a:cubicBezTo>
                  <a:lnTo>
                    <a:pt x="95667" y="855940"/>
                  </a:lnTo>
                  <a:cubicBezTo>
                    <a:pt x="76557" y="855940"/>
                    <a:pt x="63818" y="842784"/>
                    <a:pt x="63818" y="823020"/>
                  </a:cubicBezTo>
                  <a:lnTo>
                    <a:pt x="63818" y="312777"/>
                  </a:lnTo>
                  <a:lnTo>
                    <a:pt x="829211" y="312777"/>
                  </a:lnTo>
                  <a:lnTo>
                    <a:pt x="829211" y="823020"/>
                  </a:lnTo>
                  <a:close/>
                  <a:moveTo>
                    <a:pt x="829211" y="246936"/>
                  </a:moveTo>
                  <a:lnTo>
                    <a:pt x="63818" y="246936"/>
                  </a:lnTo>
                  <a:lnTo>
                    <a:pt x="63818" y="164604"/>
                  </a:lnTo>
                  <a:cubicBezTo>
                    <a:pt x="63818" y="144899"/>
                    <a:pt x="76557" y="131683"/>
                    <a:pt x="95667" y="131683"/>
                  </a:cubicBezTo>
                  <a:lnTo>
                    <a:pt x="191333" y="131683"/>
                  </a:lnTo>
                  <a:lnTo>
                    <a:pt x="191333" y="164604"/>
                  </a:lnTo>
                  <a:cubicBezTo>
                    <a:pt x="191333" y="181094"/>
                    <a:pt x="204133" y="197525"/>
                    <a:pt x="223242" y="197525"/>
                  </a:cubicBezTo>
                  <a:cubicBezTo>
                    <a:pt x="242411" y="197525"/>
                    <a:pt x="255151" y="184428"/>
                    <a:pt x="255151" y="164604"/>
                  </a:cubicBezTo>
                  <a:lnTo>
                    <a:pt x="255151" y="131683"/>
                  </a:lnTo>
                  <a:lnTo>
                    <a:pt x="637818" y="131683"/>
                  </a:lnTo>
                  <a:lnTo>
                    <a:pt x="637818" y="164604"/>
                  </a:lnTo>
                  <a:cubicBezTo>
                    <a:pt x="637818" y="181094"/>
                    <a:pt x="650617" y="197525"/>
                    <a:pt x="669727" y="197525"/>
                  </a:cubicBezTo>
                  <a:cubicBezTo>
                    <a:pt x="688896" y="197525"/>
                    <a:pt x="701635" y="184428"/>
                    <a:pt x="701635" y="164604"/>
                  </a:cubicBezTo>
                  <a:lnTo>
                    <a:pt x="701635" y="131683"/>
                  </a:lnTo>
                  <a:lnTo>
                    <a:pt x="797302" y="131683"/>
                  </a:lnTo>
                  <a:cubicBezTo>
                    <a:pt x="816412" y="131683"/>
                    <a:pt x="829211" y="144899"/>
                    <a:pt x="829211" y="164604"/>
                  </a:cubicBezTo>
                  <a:lnTo>
                    <a:pt x="829211" y="246936"/>
                  </a:ln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7836630" y="5476636"/>
              <a:ext cx="255091" cy="427970"/>
            </a:xfrm>
            <a:custGeom>
              <a:avLst/>
              <a:gdLst>
                <a:gd name="connsiteX0" fmla="*/ 15954 w 255091"/>
                <a:gd name="connsiteY0" fmla="*/ 98762 h 427970"/>
                <a:gd name="connsiteX1" fmla="*/ 79712 w 255091"/>
                <a:gd name="connsiteY1" fmla="*/ 98762 h 427970"/>
                <a:gd name="connsiteX2" fmla="*/ 95667 w 255091"/>
                <a:gd name="connsiteY2" fmla="*/ 82272 h 427970"/>
                <a:gd name="connsiteX3" fmla="*/ 95667 w 255091"/>
                <a:gd name="connsiteY3" fmla="*/ 16431 h 427970"/>
                <a:gd name="connsiteX4" fmla="*/ 79712 w 255091"/>
                <a:gd name="connsiteY4" fmla="*/ 0 h 427970"/>
                <a:gd name="connsiteX5" fmla="*/ 15954 w 255091"/>
                <a:gd name="connsiteY5" fmla="*/ 0 h 427970"/>
                <a:gd name="connsiteX6" fmla="*/ 0 w 255091"/>
                <a:gd name="connsiteY6" fmla="*/ 16431 h 427970"/>
                <a:gd name="connsiteX7" fmla="*/ 0 w 255091"/>
                <a:gd name="connsiteY7" fmla="*/ 82272 h 427970"/>
                <a:gd name="connsiteX8" fmla="*/ 15954 w 255091"/>
                <a:gd name="connsiteY8" fmla="*/ 98762 h 427970"/>
                <a:gd name="connsiteX9" fmla="*/ 175379 w 255091"/>
                <a:gd name="connsiteY9" fmla="*/ 263366 h 427970"/>
                <a:gd name="connsiteX10" fmla="*/ 239197 w 255091"/>
                <a:gd name="connsiteY10" fmla="*/ 263366 h 427970"/>
                <a:gd name="connsiteX11" fmla="*/ 255091 w 255091"/>
                <a:gd name="connsiteY11" fmla="*/ 246876 h 427970"/>
                <a:gd name="connsiteX12" fmla="*/ 255091 w 255091"/>
                <a:gd name="connsiteY12" fmla="*/ 181035 h 427970"/>
                <a:gd name="connsiteX13" fmla="*/ 239197 w 255091"/>
                <a:gd name="connsiteY13" fmla="*/ 164604 h 427970"/>
                <a:gd name="connsiteX14" fmla="*/ 175320 w 255091"/>
                <a:gd name="connsiteY14" fmla="*/ 164604 h 427970"/>
                <a:gd name="connsiteX15" fmla="*/ 159365 w 255091"/>
                <a:gd name="connsiteY15" fmla="*/ 181035 h 427970"/>
                <a:gd name="connsiteX16" fmla="*/ 159365 w 255091"/>
                <a:gd name="connsiteY16" fmla="*/ 246876 h 427970"/>
                <a:gd name="connsiteX17" fmla="*/ 175320 w 255091"/>
                <a:gd name="connsiteY17" fmla="*/ 263366 h 427970"/>
                <a:gd name="connsiteX18" fmla="*/ 175379 w 255091"/>
                <a:gd name="connsiteY18" fmla="*/ 427970 h 427970"/>
                <a:gd name="connsiteX19" fmla="*/ 239197 w 255091"/>
                <a:gd name="connsiteY19" fmla="*/ 427970 h 427970"/>
                <a:gd name="connsiteX20" fmla="*/ 255091 w 255091"/>
                <a:gd name="connsiteY20" fmla="*/ 411480 h 427970"/>
                <a:gd name="connsiteX21" fmla="*/ 255091 w 255091"/>
                <a:gd name="connsiteY21" fmla="*/ 345638 h 427970"/>
                <a:gd name="connsiteX22" fmla="*/ 239197 w 255091"/>
                <a:gd name="connsiteY22" fmla="*/ 329208 h 427970"/>
                <a:gd name="connsiteX23" fmla="*/ 175320 w 255091"/>
                <a:gd name="connsiteY23" fmla="*/ 329208 h 427970"/>
                <a:gd name="connsiteX24" fmla="*/ 159365 w 255091"/>
                <a:gd name="connsiteY24" fmla="*/ 345638 h 427970"/>
                <a:gd name="connsiteX25" fmla="*/ 159365 w 255091"/>
                <a:gd name="connsiteY25" fmla="*/ 411480 h 427970"/>
                <a:gd name="connsiteX26" fmla="*/ 175320 w 255091"/>
                <a:gd name="connsiteY26" fmla="*/ 427970 h 42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5091" h="427970">
                  <a:moveTo>
                    <a:pt x="15954" y="98762"/>
                  </a:moveTo>
                  <a:lnTo>
                    <a:pt x="79712" y="98762"/>
                  </a:lnTo>
                  <a:cubicBezTo>
                    <a:pt x="89237" y="98762"/>
                    <a:pt x="95667" y="92214"/>
                    <a:pt x="95667" y="82272"/>
                  </a:cubicBezTo>
                  <a:lnTo>
                    <a:pt x="95667" y="16431"/>
                  </a:lnTo>
                  <a:cubicBezTo>
                    <a:pt x="95667" y="6548"/>
                    <a:pt x="89297" y="0"/>
                    <a:pt x="79712" y="0"/>
                  </a:cubicBezTo>
                  <a:lnTo>
                    <a:pt x="15954" y="0"/>
                  </a:lnTo>
                  <a:cubicBezTo>
                    <a:pt x="6370" y="0"/>
                    <a:pt x="0" y="6548"/>
                    <a:pt x="0" y="16431"/>
                  </a:cubicBezTo>
                  <a:lnTo>
                    <a:pt x="0" y="82272"/>
                  </a:lnTo>
                  <a:cubicBezTo>
                    <a:pt x="0" y="92154"/>
                    <a:pt x="6370" y="98762"/>
                    <a:pt x="15954" y="98762"/>
                  </a:cubicBezTo>
                  <a:close/>
                  <a:moveTo>
                    <a:pt x="175379" y="263366"/>
                  </a:moveTo>
                  <a:lnTo>
                    <a:pt x="239197" y="263366"/>
                  </a:lnTo>
                  <a:cubicBezTo>
                    <a:pt x="248722" y="263366"/>
                    <a:pt x="255091" y="256818"/>
                    <a:pt x="255091" y="246876"/>
                  </a:cubicBezTo>
                  <a:lnTo>
                    <a:pt x="255091" y="181035"/>
                  </a:lnTo>
                  <a:cubicBezTo>
                    <a:pt x="255091" y="171152"/>
                    <a:pt x="248722" y="164604"/>
                    <a:pt x="239197" y="164604"/>
                  </a:cubicBezTo>
                  <a:lnTo>
                    <a:pt x="175320" y="164604"/>
                  </a:lnTo>
                  <a:cubicBezTo>
                    <a:pt x="165795" y="164604"/>
                    <a:pt x="159365" y="171152"/>
                    <a:pt x="159365" y="181035"/>
                  </a:cubicBezTo>
                  <a:lnTo>
                    <a:pt x="159365" y="246876"/>
                  </a:lnTo>
                  <a:cubicBezTo>
                    <a:pt x="159365" y="256758"/>
                    <a:pt x="165735" y="263366"/>
                    <a:pt x="175320" y="263366"/>
                  </a:cubicBezTo>
                  <a:close/>
                  <a:moveTo>
                    <a:pt x="175379" y="427970"/>
                  </a:moveTo>
                  <a:lnTo>
                    <a:pt x="239197" y="427970"/>
                  </a:lnTo>
                  <a:cubicBezTo>
                    <a:pt x="248722" y="427970"/>
                    <a:pt x="255091" y="421422"/>
                    <a:pt x="255091" y="411480"/>
                  </a:cubicBezTo>
                  <a:lnTo>
                    <a:pt x="255091" y="345638"/>
                  </a:lnTo>
                  <a:cubicBezTo>
                    <a:pt x="255091" y="335756"/>
                    <a:pt x="248722" y="329208"/>
                    <a:pt x="239197" y="329208"/>
                  </a:cubicBezTo>
                  <a:lnTo>
                    <a:pt x="175320" y="329208"/>
                  </a:lnTo>
                  <a:cubicBezTo>
                    <a:pt x="165795" y="329208"/>
                    <a:pt x="159365" y="335756"/>
                    <a:pt x="159365" y="345638"/>
                  </a:cubicBezTo>
                  <a:lnTo>
                    <a:pt x="159365" y="411480"/>
                  </a:lnTo>
                  <a:cubicBezTo>
                    <a:pt x="159365" y="421362"/>
                    <a:pt x="165735" y="427970"/>
                    <a:pt x="175320" y="427970"/>
                  </a:cubicBez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7219149" y="515724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</a:t>
            </a:r>
            <a:r>
              <a:rPr lang="zh-CN" altLang="en-US">
                <a:latin typeface="+mn-ea"/>
              </a:rPr>
              <a:t>：</a:t>
            </a:r>
            <a:r>
              <a:rPr lang="en-US" altLang="zh-CN">
                <a:latin typeface="+mn-ea"/>
              </a:rPr>
              <a:t>2026.08.27</a:t>
            </a:r>
            <a:endParaRPr lang="zh-CN" altLang="en-US" dirty="0">
              <a:latin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355F7E1-3C59-FD11-DE8D-2C90231B65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605" y="424570"/>
            <a:ext cx="5080673" cy="12613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58F61-6D64-081A-85F4-0CB31DDC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EFE495D5-5C98-53C4-1406-4E1E455D1C10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5B3125-B455-1A9A-452A-FFDEEBFD2FB2}"/>
              </a:ext>
            </a:extLst>
          </p:cNvPr>
          <p:cNvSpPr txBox="1"/>
          <p:nvPr/>
        </p:nvSpPr>
        <p:spPr>
          <a:xfrm>
            <a:off x="801587" y="22385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编码参数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58FD615-99F5-5731-3642-84E53EE69501}"/>
              </a:ext>
            </a:extLst>
          </p:cNvPr>
          <p:cNvGraphicFramePr>
            <a:graphicFrameLocks noGrp="1"/>
          </p:cNvGraphicFramePr>
          <p:nvPr/>
        </p:nvGraphicFramePr>
        <p:xfrm>
          <a:off x="672506" y="1160451"/>
          <a:ext cx="10661072" cy="4350629"/>
        </p:xfrm>
        <a:graphic>
          <a:graphicData uri="http://schemas.openxmlformats.org/drawingml/2006/table">
            <a:tbl>
              <a:tblPr/>
              <a:tblGrid>
                <a:gridCol w="2072242">
                  <a:extLst>
                    <a:ext uri="{9D8B030D-6E8A-4147-A177-3AD203B41FA5}">
                      <a16:colId xmlns:a16="http://schemas.microsoft.com/office/drawing/2014/main" val="3339376044"/>
                    </a:ext>
                  </a:extLst>
                </a:gridCol>
                <a:gridCol w="2390503">
                  <a:extLst>
                    <a:ext uri="{9D8B030D-6E8A-4147-A177-3AD203B41FA5}">
                      <a16:colId xmlns:a16="http://schemas.microsoft.com/office/drawing/2014/main" val="2416184993"/>
                    </a:ext>
                  </a:extLst>
                </a:gridCol>
                <a:gridCol w="2965268">
                  <a:extLst>
                    <a:ext uri="{9D8B030D-6E8A-4147-A177-3AD203B41FA5}">
                      <a16:colId xmlns:a16="http://schemas.microsoft.com/office/drawing/2014/main" val="1267218925"/>
                    </a:ext>
                  </a:extLst>
                </a:gridCol>
                <a:gridCol w="3233059">
                  <a:extLst>
                    <a:ext uri="{9D8B030D-6E8A-4147-A177-3AD203B41FA5}">
                      <a16:colId xmlns:a16="http://schemas.microsoft.com/office/drawing/2014/main" val="765932296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类别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作用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x265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VVenC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684966"/>
                  </a:ext>
                </a:extLst>
              </a:tr>
              <a:tr h="347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质量控制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控制码率和质量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>
                          <a:solidFill>
                            <a:srgbClr val="FF0000"/>
                          </a:solidFill>
                        </a:rPr>
                        <a:t>QP</a:t>
                      </a:r>
                      <a:r>
                        <a:rPr lang="zh-CN" sz="1700"/>
                        <a:t>/CRF/bitrate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QP/bitrate/QPA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62392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GOP结构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控制时域预测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keyint/bframes/ref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IntraPeriod/GOPSize/RefPics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9688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块划分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决定搜索空间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CTU/CU/rd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CTU/QTBT/MTT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947285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运动估计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找最佳运动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me/subme/merange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SearchRange/FastSearch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6065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Intra预测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空间预测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intra-depth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MIP/MRL/ISP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26630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变换量化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压缩残差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>
                          <a:solidFill>
                            <a:srgbClr val="00B0F0"/>
                          </a:solidFill>
                        </a:rPr>
                        <a:t>RDOQ/</a:t>
                      </a:r>
                      <a:r>
                        <a:rPr lang="zh-CN" sz="1700" u="sng">
                          <a:solidFill>
                            <a:srgbClr val="00B0F0"/>
                          </a:solidFill>
                        </a:rPr>
                        <a:t>psy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MTS/LFNST/RDOQ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80812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环路滤波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提升重建质量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>
                          <a:solidFill>
                            <a:srgbClr val="00B0F0"/>
                          </a:solidFill>
                        </a:rPr>
                        <a:t>Deblock/SAO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SAO/ALF/CCALF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9632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感知优化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主观质量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>
                          <a:solidFill>
                            <a:srgbClr val="FF0000"/>
                          </a:solidFill>
                        </a:rPr>
                        <a:t>AQ/CUTree</a:t>
                      </a:r>
                      <a:r>
                        <a:rPr lang="zh-CN" sz="1700"/>
                        <a:t>/psy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QPA/BIM/MCTF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88171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编码加速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降低时间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rskip/early-skip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FastQTBT/ECU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77807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多线程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提高FPS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frame-thread/WPP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WPP/IFP/Tiles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23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30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58F61-6D64-081A-85F4-0CB31DDC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EFE495D5-5C98-53C4-1406-4E1E455D1C10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BF5912-BEFD-C8F7-D60A-CD0A5D4E7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66" y="926650"/>
            <a:ext cx="11533668" cy="53054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92FAA39-6BFD-3F91-629F-F635E3B7D2A9}"/>
              </a:ext>
            </a:extLst>
          </p:cNvPr>
          <p:cNvSpPr txBox="1"/>
          <p:nvPr/>
        </p:nvSpPr>
        <p:spPr>
          <a:xfrm>
            <a:off x="801587" y="219379"/>
            <a:ext cx="399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3 Pass </a:t>
            </a:r>
            <a:r>
              <a:rPr lang="zh-CN" altLang="en-US" b="1"/>
              <a:t>编码框架</a:t>
            </a:r>
          </a:p>
        </p:txBody>
      </p:sp>
    </p:spTree>
    <p:extLst>
      <p:ext uri="{BB962C8B-B14F-4D97-AF65-F5344CB8AC3E}">
        <p14:creationId xmlns:p14="http://schemas.microsoft.com/office/powerpoint/2010/main" val="410094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301D-373E-1086-8DB7-ABF9F789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13DB7C2C-4B14-BB0E-8AAB-8EEBFD30E039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E0D3629-45E1-6A43-6490-07FD2D2E9C24}"/>
                  </a:ext>
                </a:extLst>
              </p:cNvPr>
              <p:cNvSpPr txBox="1"/>
              <p:nvPr/>
            </p:nvSpPr>
            <p:spPr>
              <a:xfrm>
                <a:off x="497594" y="737774"/>
                <a:ext cx="11509941" cy="5669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编码完整流程：</a:t>
                </a:r>
                <a:r>
                  <a:rPr lang="zh-CN" altLang="zh-CN"/>
                  <a:t>Pass2</a:t>
                </a:r>
                <a:r>
                  <a:rPr lang="en-US" altLang="zh-CN"/>
                  <a:t> </a:t>
                </a:r>
                <a:r>
                  <a:rPr lang="zh-CN" altLang="zh-CN"/>
                  <a:t> 固定 Anchor</a:t>
                </a:r>
                <a:r>
                  <a:rPr lang="en-US" altLang="zh-CN"/>
                  <a:t> </a:t>
                </a:r>
                <a:r>
                  <a:rPr lang="zh-CN" altLang="zh-CN"/>
                  <a:t>→</a:t>
                </a:r>
                <a:r>
                  <a:rPr lang="en-US" altLang="zh-CN"/>
                  <a:t> </a:t>
                </a:r>
                <a:r>
                  <a:rPr lang="zh-CN" altLang="zh-CN"/>
                  <a:t>提取 253 维视频/编码特征</a:t>
                </a:r>
                <a:r>
                  <a:rPr lang="en-US" altLang="zh-CN"/>
                  <a:t> </a:t>
                </a:r>
                <a:r>
                  <a:rPr lang="zh-CN" altLang="zh-CN"/>
                  <a:t>→</a:t>
                </a:r>
                <a:r>
                  <a:rPr lang="en-US" altLang="zh-CN"/>
                  <a:t> </a:t>
                </a:r>
                <a:r>
                  <a:rPr lang="zh-CN" altLang="zh-CN"/>
                  <a:t>CAE 决策</a:t>
                </a:r>
                <a:r>
                  <a:rPr lang="en-US" altLang="zh-CN"/>
                  <a:t> </a:t>
                </a:r>
                <a:r>
                  <a:rPr lang="zh-CN" altLang="zh-CN"/>
                  <a:t>→</a:t>
                </a:r>
                <a:r>
                  <a:rPr lang="en-US" altLang="zh-CN"/>
                  <a:t> </a:t>
                </a:r>
                <a:r>
                  <a:rPr lang="zh-CN" altLang="zh-CN"/>
                  <a:t>Pass3 </a:t>
                </a:r>
                <a:r>
                  <a:rPr lang="en-US" altLang="zh-CN"/>
                  <a:t> </a:t>
                </a:r>
                <a:r>
                  <a:rPr lang="zh-CN" altLang="zh-CN"/>
                  <a:t>完整编码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zh-CN" altLang="zh-CN"/>
                  <a:t>其中 Pass2 对所有视频使用同一套默认参数，例如 VVenC medium。</a:t>
                </a:r>
                <a:endParaRPr lang="en-US" altLang="zh-CN"/>
              </a:p>
              <a:p>
                <a:r>
                  <a:rPr lang="en-US" altLang="zh-CN"/>
                  <a:t>	</a:t>
                </a:r>
              </a:p>
              <a:p>
                <a:r>
                  <a:rPr lang="zh-CN" altLang="zh-CN"/>
                  <a:t>设Pass2 的参数为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/>
                  <a:t>，得到：</a:t>
                </a:r>
              </a:p>
              <a:p>
                <a:r>
                  <a:rPr lang="en-US" altLang="zh-CN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zh-CN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smtClean="0">
                        <a:latin typeface="Cambria Math" panose="02040503050406030204" pitchFamily="18" charset="0"/>
                      </a:rPr>
                      <m:t>𝐵𝑃</m:t>
                    </m:r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zh-CN" i="1" smtClean="0">
                            <a:latin typeface="Cambria Math" panose="02040503050406030204" pitchFamily="18" charset="0"/>
                          </a:rPr>
                          <m:t>𝑎𝑛𝑐ℎ𝑜𝑟</m:t>
                        </m:r>
                      </m:sub>
                    </m:sSub>
                  </m:oMath>
                </a14:m>
                <a:r>
                  <a:rPr lang="zh-CN" altLang="zh-CN"/>
                  <a:t>​</a:t>
                </a:r>
                <a:r>
                  <a:rPr lang="zh-CN" altLang="en-US"/>
                  <a:t>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𝐿𝑃𝐼𝑃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𝑎𝑛𝑐ℎ𝑜𝑟</m:t>
                        </m:r>
                      </m:sub>
                    </m:sSub>
                  </m:oMath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zh-CN" altLang="zh-CN"/>
                  <a:t>Pass2</a:t>
                </a:r>
                <a:r>
                  <a:rPr lang="en-US" altLang="zh-CN"/>
                  <a:t> </a:t>
                </a:r>
                <a:r>
                  <a:rPr lang="zh-CN" altLang="en-US"/>
                  <a:t>产生的视频统计特征 </a:t>
                </a:r>
                <a:r>
                  <a:rPr lang="en-US" altLang="zh-CN"/>
                  <a:t>/ </a:t>
                </a:r>
                <a:r>
                  <a:rPr lang="zh-CN" altLang="en-US"/>
                  <a:t>编码内部信息</a:t>
                </a:r>
                <a:br>
                  <a:rPr lang="en-US" altLang="zh-CN"/>
                </a:br>
                <a:r>
                  <a:rPr lang="en-US" altLang="zh-CN"/>
                  <a:t>		</a:t>
                </a:r>
                <a14:m>
                  <m:oMath xmlns:m="http://schemas.openxmlformats.org/officeDocument/2006/math">
                    <m:r>
                      <a:rPr lang="zh-CN" altLang="zh-CN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zh-CN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i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253</m:t>
                        </m:r>
                      </m:sup>
                    </m:sSup>
                  </m:oMath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en-US" altLang="zh-CN"/>
                  <a:t>Pass3 </a:t>
                </a:r>
                <a:r>
                  <a:rPr lang="zh-CN" altLang="en-US"/>
                  <a:t>要决定 </a:t>
                </a:r>
                <a:r>
                  <a:rPr lang="en-US" altLang="zh-CN"/>
                  <a:t>M </a:t>
                </a:r>
                <a:r>
                  <a:rPr lang="zh-CN" altLang="en-US"/>
                  <a:t>个</a:t>
                </a:r>
                <a:r>
                  <a:rPr lang="en-US" altLang="zh-CN"/>
                  <a:t>coding tools</a:t>
                </a:r>
                <a:r>
                  <a:rPr lang="zh-CN" altLang="en-US"/>
                  <a:t>：</a:t>
                </a:r>
                <a:endParaRPr lang="en-US" altLang="zh-CN"/>
              </a:p>
              <a:p>
                <a:r>
                  <a:rPr lang="en-US" altLang="zh-CN"/>
                  <a:t>		</a:t>
                </a:r>
                <a14:m>
                  <m:oMath xmlns:m="http://schemas.openxmlformats.org/officeDocument/2006/math">
                    <m:r>
                      <a:rPr lang="zh-CN" altLang="zh-CN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zh-CN" altLang="zh-CN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i="0" smtClean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i="0" smtClean="0">
                            <a:latin typeface="Cambria Math" panose="02040503050406030204" pitchFamily="18" charset="0"/>
                          </a:rPr>
                          <m:t>​,…,</m:t>
                        </m:r>
                        <m:sSub>
                          <m:sSubPr>
                            <m:ctrlP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zh-CN" altLang="zh-CN" i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</m:oMath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zh-CN" altLang="zh-CN"/>
                  <a:t>当前方案相当于</a:t>
                </a:r>
                <a:r>
                  <a:rPr lang="zh-CN" altLang="en-US"/>
                  <a:t>：</a:t>
                </a:r>
                <a:endParaRPr lang="en-US" altLang="zh-CN"/>
              </a:p>
              <a:p>
                <a:r>
                  <a:rPr lang="en-US" altLang="zh-CN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𝑀𝐿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zh-CN" altLang="zh-CN" smtClean="0">
                        <a:latin typeface="Cambria Math" panose="02040503050406030204" pitchFamily="18" charset="0"/>
                      </a:rPr>
                      <m:t> 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zh-CN" i="0">
                        <a:latin typeface="Cambria Math" panose="02040503050406030204" pitchFamily="18" charset="0"/>
                      </a:rPr>
                      <m:t>=1,2,…,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zh-CN" altLang="zh-CN"/>
                  <a:t>然后根据每个 MLP 的 ON/OFF 结果拼出最终配置，再进行 Pass3 编码。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/>
                  <a:t>优化的目标：</a:t>
                </a:r>
                <a:endParaRPr lang="en-US" altLang="zh-CN"/>
              </a:p>
              <a:p>
                <a:r>
                  <a:rPr lang="en-US" altLang="zh-CN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E0D3629-45E1-6A43-6490-07FD2D2E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4" y="737774"/>
                <a:ext cx="11509941" cy="5669181"/>
              </a:xfrm>
              <a:prstGeom prst="rect">
                <a:avLst/>
              </a:prstGeom>
              <a:blipFill>
                <a:blip r:embed="rId3"/>
                <a:stretch>
                  <a:fillRect l="-477" t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09E1825D-832D-445C-D6C6-7CD575F92CFA}"/>
              </a:ext>
            </a:extLst>
          </p:cNvPr>
          <p:cNvSpPr txBox="1"/>
          <p:nvPr/>
        </p:nvSpPr>
        <p:spPr>
          <a:xfrm>
            <a:off x="801586" y="237538"/>
            <a:ext cx="11091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问题陈述：</a:t>
            </a:r>
            <a:r>
              <a:rPr lang="zh-CN" altLang="zh-CN" b="1"/>
              <a:t>Anchor-conditioned Multi-objective Black-box Optimization</a:t>
            </a:r>
            <a:endParaRPr lang="zh-CN" altLang="en-US" b="1"/>
          </a:p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44218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A681E-5718-25EF-9314-1C5B4281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7045EDC-B39F-1DA3-9671-409AF3087824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BD23AFA-BD78-4291-1926-501057D07D70}"/>
                  </a:ext>
                </a:extLst>
              </p:cNvPr>
              <p:cNvSpPr txBox="1"/>
              <p:nvPr/>
            </p:nvSpPr>
            <p:spPr>
              <a:xfrm>
                <a:off x="431421" y="735614"/>
                <a:ext cx="11461794" cy="3918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/>
                  <a:t>现有的方案问题（</a:t>
                </a:r>
                <a:r>
                  <a:rPr lang="en-US" altLang="zh-CN"/>
                  <a:t>M</a:t>
                </a:r>
                <a:r>
                  <a:rPr lang="zh-CN" altLang="en-US"/>
                  <a:t>个</a:t>
                </a:r>
                <a:r>
                  <a:rPr lang="zh-CN" altLang="en-US" b="1"/>
                  <a:t>独立</a:t>
                </a:r>
                <a:r>
                  <a:rPr lang="zh-CN" altLang="en-US"/>
                  <a:t>的</a:t>
                </a:r>
                <a:r>
                  <a:rPr lang="en-US" altLang="zh-CN"/>
                  <a:t>MLP -&gt; M</a:t>
                </a:r>
                <a:r>
                  <a:rPr lang="zh-CN" altLang="en-US"/>
                  <a:t>个编码工具）：</a:t>
                </a:r>
                <a:endParaRPr lang="en-US" altLang="zh-CN"/>
              </a:p>
              <a:p>
                <a:r>
                  <a:rPr lang="zh-CN" altLang="zh-CN"/>
                  <a:t>给定视频特征后，每个编码工具的开关决策相互独立</a:t>
                </a:r>
                <a:endParaRPr lang="en-US" altLang="zh-CN"/>
              </a:p>
              <a:p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≈</m:t>
                          </m:r>
                          <m:nary>
                            <m:naryPr>
                              <m:chr m:val="∏"/>
                              <m:limLoc m:val="undOv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nary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altLang="zh-CN"/>
              </a:p>
              <a:p>
                <a:r>
                  <a:rPr lang="zh-CN" altLang="en-US"/>
                  <a:t>实际编码器内部参数决策更复杂</a:t>
                </a:r>
                <a:endParaRPr lang="en-US" altLang="zh-CN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zh-CN" altLang="zh-CN"/>
                  <a:t>现有方法把一个联合的 RD 优化问题拆成了 M 个独立的参数分类问题，忽略了编码工具之间的非线性交互。</a:t>
                </a:r>
                <a:endParaRPr lang="en-US" altLang="zh-CN"/>
              </a:p>
              <a:p>
                <a:r>
                  <a:rPr lang="zh-CN" altLang="en-US"/>
                  <a:t>是一个 </a:t>
                </a:r>
                <a:r>
                  <a:rPr lang="en-US" altLang="zh-CN"/>
                  <a:t>p</a:t>
                </a:r>
                <a:r>
                  <a:rPr lang="zh-CN" altLang="zh-CN"/>
                  <a:t>arameter interaction</a:t>
                </a:r>
                <a:r>
                  <a:rPr lang="en-US" altLang="zh-CN"/>
                  <a:t> </a:t>
                </a:r>
                <a:r>
                  <a:rPr lang="zh-CN" altLang="en-US"/>
                  <a:t>问题：</a:t>
                </a:r>
                <a:endParaRPr lang="en-US" altLang="zh-CN"/>
              </a:p>
              <a:p>
                <a:endParaRPr lang="en-US" altLang="zh-CN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zh-CN" altLang="en-US"/>
                  <a:t>每</a:t>
                </a:r>
                <a:r>
                  <a:rPr lang="zh-CN" altLang="zh-CN"/>
                  <a:t>个 MLP</a:t>
                </a:r>
                <a:r>
                  <a:rPr lang="zh-CN" altLang="en-US"/>
                  <a:t>网络</a:t>
                </a:r>
                <a:r>
                  <a:rPr lang="zh-CN" altLang="zh-CN"/>
                  <a:t>都不知道其他参数做了什么</a:t>
                </a:r>
                <a:r>
                  <a:rPr lang="zh-CN" altLang="en-US"/>
                  <a:t>，只关注当前编码工具的决策，无法直接建模参数之间的耦合关系</a:t>
                </a:r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zh-CN" altLang="en-US"/>
                  <a:t>参数组合过大，有些参数配置训练数据可能没有出现过，</a:t>
                </a:r>
                <a:r>
                  <a:rPr lang="zh-CN" altLang="zh-CN"/>
                  <a:t>推理的时候却拼出来</a:t>
                </a:r>
                <a:r>
                  <a:rPr lang="zh-CN" altLang="en-US"/>
                  <a:t>这个配置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BD23AFA-BD78-4291-1926-501057D07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21" y="735614"/>
                <a:ext cx="11461794" cy="3918252"/>
              </a:xfrm>
              <a:prstGeom prst="rect">
                <a:avLst/>
              </a:prstGeom>
              <a:blipFill>
                <a:blip r:embed="rId3"/>
                <a:stretch>
                  <a:fillRect l="-479" t="-935" b="-1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0EFD2B24-03BB-9344-E43C-7EF6BB8043B3}"/>
              </a:ext>
            </a:extLst>
          </p:cNvPr>
          <p:cNvSpPr txBox="1"/>
          <p:nvPr/>
        </p:nvSpPr>
        <p:spPr>
          <a:xfrm>
            <a:off x="801586" y="237538"/>
            <a:ext cx="11091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问题陈述：</a:t>
            </a:r>
            <a:r>
              <a:rPr lang="zh-CN" altLang="zh-CN" b="1"/>
              <a:t>Anchor-conditioned Multi-objective Black-box Optimization</a:t>
            </a:r>
            <a:endParaRPr lang="zh-CN" altLang="en-US" b="1"/>
          </a:p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90320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3A8A-D88D-F43D-8427-310C2630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4F868AC5-33A7-10AA-2F40-0F318AFB8EE0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154ED12-A806-A107-B5BE-989ED4002FD5}"/>
                  </a:ext>
                </a:extLst>
              </p:cNvPr>
              <p:cNvSpPr txBox="1"/>
              <p:nvPr/>
            </p:nvSpPr>
            <p:spPr>
              <a:xfrm>
                <a:off x="473742" y="729598"/>
                <a:ext cx="11479632" cy="5658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/>
                  <a:t>模型输入参数组合：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zh-C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zh-C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800"/>
              </a:p>
              <a:p>
                <a:r>
                  <a:rPr lang="zh-CN" altLang="en-US" sz="1800"/>
                  <a:t>模型学习：</a:t>
                </a:r>
                <a14:m>
                  <m:oMath xmlns:m="http://schemas.openxmlformats.org/officeDocument/2006/math">
                    <m:r>
                      <a:rPr lang="zh-CN" altLang="zh-CN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zh-CN" altLang="zh-CN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1800"/>
              </a:p>
              <a:p>
                <a:endParaRPr lang="en-US" altLang="zh-CN" sz="1800"/>
              </a:p>
              <a:p>
                <a:r>
                  <a:rPr lang="zh-CN" altLang="en-US"/>
                  <a:t>区别于独立的</a:t>
                </a:r>
                <a:r>
                  <a:rPr lang="en-US" altLang="zh-CN"/>
                  <a:t>MLP</a:t>
                </a:r>
                <a:r>
                  <a:rPr lang="zh-CN" altLang="en-US"/>
                  <a:t>，模型可以直接看到，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所有</m:t>
                    </m:r>
                  </m:oMath>
                </a14:m>
                <a:r>
                  <a:rPr lang="zh-CN" altLang="en-US"/>
                  <a:t>的编码参数</a:t>
                </a:r>
                <a:endParaRPr lang="en-US" altLang="zh-CN"/>
              </a:p>
              <a:p>
                <a:endParaRPr lang="en-US" altLang="zh-CN" sz="1800"/>
              </a:p>
              <a:p>
                <a:r>
                  <a:rPr lang="en-US" altLang="zh-CN" sz="1800"/>
                  <a:t>Ranker </a:t>
                </a:r>
                <a:r>
                  <a:rPr lang="zh-CN" altLang="en-US" sz="1800"/>
                  <a:t>训练数据：</a:t>
                </a:r>
                <a:endParaRPr lang="en-US" altLang="zh-CN" sz="1800"/>
              </a:p>
              <a:p>
                <a:r>
                  <a:rPr lang="zh-CN" altLang="zh-CN"/>
                  <a:t>Video 0001</a:t>
                </a:r>
                <a:endParaRPr lang="en-US" altLang="zh-CN"/>
              </a:p>
              <a:p>
                <a:r>
                  <a:rPr lang="en-US" altLang="zh-CN" sz="1800"/>
                  <a:t>	config 1 -&gt; bpp, lpips</a:t>
                </a:r>
              </a:p>
              <a:p>
                <a:r>
                  <a:rPr lang="en-US" altLang="zh-CN"/>
                  <a:t>	config 2 -&gt; bpp, lpips</a:t>
                </a:r>
              </a:p>
              <a:p>
                <a:r>
                  <a:rPr lang="en-US" altLang="zh-CN" sz="1800"/>
                  <a:t>	…</a:t>
                </a:r>
              </a:p>
              <a:p>
                <a:r>
                  <a:rPr lang="en-US" altLang="zh-CN"/>
                  <a:t>	config n -&gt; bpp, lpips</a:t>
                </a:r>
              </a:p>
              <a:p>
                <a:r>
                  <a:rPr lang="zh-CN" altLang="zh-CN"/>
                  <a:t>Video 0002 </a:t>
                </a:r>
                <a:endParaRPr lang="en-US" altLang="zh-CN"/>
              </a:p>
              <a:p>
                <a:r>
                  <a:rPr lang="en-US" altLang="zh-CN"/>
                  <a:t>	c</a:t>
                </a:r>
                <a:r>
                  <a:rPr lang="zh-CN" altLang="zh-CN"/>
                  <a:t>onfig 1 </a:t>
                </a:r>
                <a:r>
                  <a:rPr lang="en-US" altLang="zh-CN"/>
                  <a:t>-&gt;bpp, lpips</a:t>
                </a:r>
              </a:p>
              <a:p>
                <a:r>
                  <a:rPr lang="en-US" altLang="zh-CN"/>
                  <a:t>	…</a:t>
                </a:r>
              </a:p>
              <a:p>
                <a:endParaRPr lang="en-US" altLang="zh-CN"/>
              </a:p>
              <a:p>
                <a:r>
                  <a:rPr lang="zh-CN" altLang="en-US"/>
                  <a:t>从候选配置中选出最优配置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/>
                  <a:t>问题：</a:t>
                </a:r>
                <a:r>
                  <a:rPr lang="zh-CN" altLang="zh-CN"/>
                  <a:t>候选参数组合</a:t>
                </a:r>
                <a:r>
                  <a:rPr lang="zh-CN" altLang="en-US"/>
                  <a:t>怎么选择？组合方式太多？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/>
                  <a:t>只在</a:t>
                </a:r>
                <a:r>
                  <a:rPr lang="en-US" altLang="zh-CN"/>
                  <a:t>Anchor Medium</a:t>
                </a:r>
                <a:r>
                  <a:rPr lang="zh-CN" altLang="en-US"/>
                  <a:t>配置附近做少量搜索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zh-CN"/>
                  <a:t>利用现有 MLP 当搜索中心</a:t>
                </a:r>
                <a:endParaRPr lang="en-US" altLang="zh-CN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154ED12-A806-A107-B5BE-989ED4002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42" y="729598"/>
                <a:ext cx="11479632" cy="5658087"/>
              </a:xfrm>
              <a:prstGeom prst="rect">
                <a:avLst/>
              </a:prstGeom>
              <a:blipFill>
                <a:blip r:embed="rId3"/>
                <a:stretch>
                  <a:fillRect l="-478" t="-647" b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A4691DB-27F7-F176-CAC2-51F8182EE17D}"/>
              </a:ext>
            </a:extLst>
          </p:cNvPr>
          <p:cNvSpPr txBox="1"/>
          <p:nvPr/>
        </p:nvSpPr>
        <p:spPr>
          <a:xfrm>
            <a:off x="801587" y="205805"/>
            <a:ext cx="8577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方案一：把“</a:t>
            </a:r>
            <a:r>
              <a:rPr lang="zh-CN" altLang="zh-CN" b="1"/>
              <a:t>独立预测参数</a:t>
            </a:r>
            <a:r>
              <a:rPr lang="zh-CN" altLang="en-US" b="1"/>
              <a:t>”</a:t>
            </a:r>
            <a:r>
              <a:rPr lang="en-US" altLang="zh-CN" b="1"/>
              <a:t>-&gt; </a:t>
            </a:r>
            <a:r>
              <a:rPr lang="zh-CN" altLang="en-US" b="1"/>
              <a:t>“</a:t>
            </a:r>
            <a:r>
              <a:rPr lang="zh-CN" altLang="zh-CN" b="1"/>
              <a:t>判断整个参数组合</a:t>
            </a:r>
            <a:r>
              <a:rPr lang="en-US" altLang="zh-CN" b="1"/>
              <a:t>Ranker</a:t>
            </a:r>
            <a:r>
              <a:rPr lang="zh-CN" altLang="en-US" b="1"/>
              <a:t>”</a:t>
            </a:r>
            <a:endParaRPr lang="en-US" altLang="zh-CN" b="1"/>
          </a:p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56486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D448-487C-8F8A-8867-26177B94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18245965-624F-25B7-2A96-75F968A91A11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B5DAEE9-0445-7AAF-0097-6CB4447BE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873578"/>
              </p:ext>
            </p:extLst>
          </p:nvPr>
        </p:nvGraphicFramePr>
        <p:xfrm>
          <a:off x="898358" y="3359653"/>
          <a:ext cx="10515600" cy="256032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850674272"/>
                    </a:ext>
                  </a:extLst>
                </a:gridCol>
                <a:gridCol w="8039100">
                  <a:extLst>
                    <a:ext uri="{9D8B030D-6E8A-4147-A177-3AD203B41FA5}">
                      <a16:colId xmlns:a16="http://schemas.microsoft.com/office/drawing/2014/main" val="2754379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>
                          <a:effectLst/>
                        </a:rPr>
                        <a:t>要素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>
                          <a:effectLst/>
                        </a:rPr>
                        <a:t>定义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14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状态 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pass2 输出的编码中间特征 f（因视频内容而异）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0121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动作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pass3 的编码参数向量（QP、λ、或其他可配置</a:t>
                      </a:r>
                      <a:r>
                        <a:rPr lang="zh-CN" altLang="en-US">
                          <a:effectLst/>
                        </a:rPr>
                        <a:t>编码</a:t>
                      </a:r>
                      <a:r>
                        <a:rPr lang="zh-CN">
                          <a:effectLst/>
                        </a:rPr>
                        <a:t>参数）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011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策略 πϕ(a∥s)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agent，输入特征 f，输出参数的概率分布</a:t>
                      </a:r>
                      <a:r>
                        <a:rPr lang="en-US" altLang="zh-CN">
                          <a:effectLst/>
                        </a:rPr>
                        <a:t> / </a:t>
                      </a:r>
                      <a:r>
                        <a:rPr lang="zh-CN" altLang="en-US">
                          <a:effectLst/>
                        </a:rPr>
                        <a:t>离散的参数列表</a:t>
                      </a:r>
                      <a:endParaRPr lang="zh-C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041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环境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pass3 编码器，输入参数 a，输出 (bpp,lpips)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362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锚点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所有视频共用的默认参数 a0，编码结果为 (bpp0,lpips0)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15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目标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对每个视频，πϕ 输出的参数编码后 bpp&lt;bpp0 且 lpips&lt;lpips0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9208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E185B92-27D4-C7E0-2DE2-3514EEEE3406}"/>
              </a:ext>
            </a:extLst>
          </p:cNvPr>
          <p:cNvSpPr txBox="1"/>
          <p:nvPr/>
        </p:nvSpPr>
        <p:spPr>
          <a:xfrm>
            <a:off x="500563" y="1062746"/>
            <a:ext cx="11190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/>
              <a:t>       </a:t>
            </a:r>
          </a:p>
          <a:p>
            <a:r>
              <a:rPr lang="en-US" altLang="zh-CN" b="1"/>
              <a:t>       </a:t>
            </a:r>
            <a:r>
              <a:rPr lang="zh-CN" altLang="zh-CN" b="1"/>
              <a:t>anchor 参数固定但特征不同</a:t>
            </a:r>
            <a:r>
              <a:rPr lang="zh-CN" altLang="zh-CN"/>
              <a:t>，这意味着 agent 的核心价值是</a:t>
            </a:r>
            <a:r>
              <a:rPr lang="zh-CN" altLang="zh-CN" b="1"/>
              <a:t>根据视频特征做自适应参数调整</a:t>
            </a:r>
            <a:r>
              <a:rPr lang="zh-CN" altLang="zh-CN"/>
              <a:t>—— 对难编码的视频多分配码率，对易编码的视频省码率，从而在整体 BD-rate 上超越 anchor。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A49FF4-38C1-4FAF-03EE-2EDEB988BE9B}"/>
              </a:ext>
            </a:extLst>
          </p:cNvPr>
          <p:cNvSpPr txBox="1"/>
          <p:nvPr/>
        </p:nvSpPr>
        <p:spPr>
          <a:xfrm>
            <a:off x="801587" y="24316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方案</a:t>
            </a:r>
            <a:r>
              <a:rPr lang="en-US" altLang="zh-CN" b="1"/>
              <a:t>2</a:t>
            </a:r>
            <a:r>
              <a:rPr lang="zh-CN" altLang="en-US" b="1"/>
              <a:t>：</a:t>
            </a:r>
            <a:r>
              <a:rPr lang="zh-CN" altLang="zh-CN" b="1"/>
              <a:t>SFT + DPO</a:t>
            </a:r>
            <a:endParaRPr lang="zh-CN" altLang="en-US" b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1B2511-B766-8241-A3AE-F43AC3FE102D}"/>
              </a:ext>
            </a:extLst>
          </p:cNvPr>
          <p:cNvSpPr txBox="1"/>
          <p:nvPr/>
        </p:nvSpPr>
        <p:spPr>
          <a:xfrm>
            <a:off x="553452" y="2822972"/>
            <a:ext cx="379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382490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8FE8D-19C4-6E63-1ADF-0D9632D4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59F84BC1-D263-4079-3B47-55E5BD8F8BD5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CAB456D-6C1D-5282-5F6E-792569CC874D}"/>
                  </a:ext>
                </a:extLst>
              </p:cNvPr>
              <p:cNvSpPr txBox="1"/>
              <p:nvPr/>
            </p:nvSpPr>
            <p:spPr>
              <a:xfrm>
                <a:off x="485562" y="697831"/>
                <a:ext cx="11467811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/>
                  <a:t>阶段一：</a:t>
                </a:r>
                <a:r>
                  <a:rPr lang="en-US" altLang="zh-CN" b="1"/>
                  <a:t>SFT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/>
                  <a:t>数据</a:t>
                </a:r>
                <a:r>
                  <a:rPr lang="zh-CN" altLang="en-US">
                    <a:sym typeface="Wingdings" panose="05000000000000000000" pitchFamily="2" charset="2"/>
                  </a:rPr>
                  <a:t>：（特征</a:t>
                </a:r>
                <a:r>
                  <a:rPr lang="en-US" altLang="zh-CN">
                    <a:sym typeface="Wingdings" panose="05000000000000000000" pitchFamily="2" charset="2"/>
                  </a:rPr>
                  <a:t>f / </a:t>
                </a:r>
                <a:r>
                  <a:rPr lang="zh-CN" altLang="en-US">
                    <a:sym typeface="Wingdings" panose="05000000000000000000" pitchFamily="2" charset="2"/>
                  </a:rPr>
                  <a:t>视频</a:t>
                </a:r>
                <a:r>
                  <a:rPr lang="en-US" altLang="zh-CN">
                    <a:sym typeface="Wingdings" panose="05000000000000000000" pitchFamily="2" charset="2"/>
                  </a:rPr>
                  <a:t>v</a:t>
                </a:r>
                <a:r>
                  <a:rPr lang="zh-CN" altLang="en-US">
                    <a:sym typeface="Wingdings" panose="05000000000000000000" pitchFamily="2" charset="2"/>
                  </a:rPr>
                  <a:t>，好参数 </a:t>
                </a:r>
                <a:r>
                  <a:rPr lang="en-US" altLang="zh-CN">
                    <a:sym typeface="Wingdings" panose="05000000000000000000" pitchFamily="2" charset="2"/>
                  </a:rPr>
                  <a:t>a*</a:t>
                </a:r>
                <a:r>
                  <a:rPr lang="zh-CN" altLang="en-US">
                    <a:sym typeface="Wingdings" panose="05000000000000000000" pitchFamily="2" charset="2"/>
                  </a:rPr>
                  <a:t>）对</a:t>
                </a:r>
                <a:endParaRPr lang="en-US" altLang="zh-CN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>
                    <a:sym typeface="Wingdings" panose="05000000000000000000" pitchFamily="2" charset="2"/>
                  </a:rPr>
                  <a:t>目标：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sft</m:t>
                    </m:r>
                  </m:oMath>
                </a14:m>
                <a:r>
                  <a:rPr lang="zh-CN" altLang="en-US"/>
                  <a:t> （</a:t>
                </a:r>
                <a:r>
                  <a:rPr lang="en-US" altLang="zh-CN"/>
                  <a:t>policy model / reference model</a:t>
                </a:r>
                <a:r>
                  <a:rPr lang="zh-CN" altLang="en-US"/>
                  <a:t>）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 b="1"/>
                  <a:t>阶段二：</a:t>
                </a:r>
                <a:r>
                  <a:rPr lang="en-US" altLang="zh-CN" b="1"/>
                  <a:t>DPO</a:t>
                </a:r>
                <a:r>
                  <a:rPr lang="zh-CN" altLang="en-US" b="1"/>
                  <a:t>偏好优化</a:t>
                </a:r>
                <a:endParaRPr lang="en-US" altLang="zh-CN" b="1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zh-CN"/>
                  <a:t>同一视频特征 f，从 π_</a:t>
                </a:r>
                <a:r>
                  <a:rPr lang="en-US" altLang="zh-CN"/>
                  <a:t>sft</a:t>
                </a:r>
                <a:r>
                  <a:rPr lang="zh-CN" altLang="zh-CN"/>
                  <a:t> 采样两组参数 a_A, a_B</a:t>
                </a:r>
                <a:endParaRPr lang="en-US" altLang="zh-CN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zh-CN"/>
                  <a:t>pass3 分别编码 </a:t>
                </a:r>
                <a:r>
                  <a:rPr lang="en-US" altLang="zh-CN"/>
                  <a:t>-&gt;</a:t>
                </a:r>
                <a:r>
                  <a:rPr lang="zh-CN" altLang="zh-CN"/>
                  <a:t> (bpp_A, lpips_A), (bpp_B, lpips_B)</a:t>
                </a:r>
                <a:endParaRPr lang="en-US" altLang="zh-CN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zh-CN"/>
                  <a:t>计算奖励 R_A, R_B（相对 anchor 的双目标加权） </a:t>
                </a:r>
                <a:endParaRPr lang="en-US" altLang="zh-CN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zh-CN"/>
                  <a:t>R 高的为 winner，低的为 loser </a:t>
                </a:r>
                <a:endParaRPr lang="en-US" altLang="zh-CN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zh-CN"/>
                  <a:t>DPO 损失更新 π_</a:t>
                </a:r>
                <a:r>
                  <a:rPr lang="en-US" altLang="zh-CN"/>
                  <a:t>sft</a:t>
                </a:r>
                <a:r>
                  <a:rPr lang="zh-CN" altLang="zh-CN"/>
                  <a:t>，reference </a:t>
                </a:r>
                <a:r>
                  <a:rPr lang="zh-CN" altLang="en-US"/>
                  <a:t>不变</a:t>
                </a:r>
                <a:endParaRPr lang="en-US" altLang="zh-CN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/>
              </a:p>
              <a:p>
                <a:r>
                  <a:rPr lang="en-US" altLang="zh-CN" b="1"/>
                  <a:t>SFT</a:t>
                </a:r>
                <a:r>
                  <a:rPr lang="zh-CN" altLang="en-US" b="1"/>
                  <a:t>数据，按照配比：</a:t>
                </a:r>
                <a:endParaRPr lang="en-US" altLang="zh-CN" b="1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en-US" altLang="zh-CN"/>
                  <a:t>Anchor</a:t>
                </a:r>
                <a:r>
                  <a:rPr lang="zh-CN" altLang="en-US"/>
                  <a:t>默认参数</a:t>
                </a:r>
                <a:r>
                  <a:rPr lang="en-US" altLang="zh-CN"/>
                  <a:t>a0</a:t>
                </a:r>
                <a:r>
                  <a:rPr lang="zh-CN" altLang="en-US"/>
                  <a:t>作为基线，保证视频质量下限，所有视频都有</a:t>
                </a:r>
                <a:endParaRPr lang="en-US" altLang="zh-CN" b="1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zh-CN" altLang="en-US"/>
                  <a:t>使用现有的</a:t>
                </a:r>
                <a:r>
                  <a:rPr lang="en-US" altLang="zh-CN"/>
                  <a:t>CAE</a:t>
                </a:r>
                <a:r>
                  <a:rPr lang="zh-CN" altLang="en-US"/>
                  <a:t>的</a:t>
                </a:r>
                <a:r>
                  <a:rPr lang="en-US" altLang="zh-CN"/>
                  <a:t>MLP</a:t>
                </a:r>
                <a:r>
                  <a:rPr lang="zh-CN" altLang="en-US"/>
                  <a:t>输出的参数，筛选出比</a:t>
                </a:r>
                <a:r>
                  <a:rPr lang="en-US" altLang="zh-CN"/>
                  <a:t>Anchor</a:t>
                </a:r>
                <a:r>
                  <a:rPr lang="zh-CN" altLang="en-US"/>
                  <a:t>更好的起点</a:t>
                </a:r>
                <a:endParaRPr lang="en-US" altLang="zh-CN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zh-CN" altLang="en-US"/>
                  <a:t>参数空间随机搜索，找到比</a:t>
                </a:r>
                <a:r>
                  <a:rPr lang="en-US" altLang="zh-CN"/>
                  <a:t>Anchor</a:t>
                </a:r>
                <a:r>
                  <a:rPr lang="zh-CN" altLang="en-US"/>
                  <a:t>好的参数</a:t>
                </a:r>
                <a:endParaRPr lang="en-US" altLang="zh-CN"/>
              </a:p>
              <a:p>
                <a:pPr lvl="1"/>
                <a:endParaRPr lang="en-US" altLang="zh-CN"/>
              </a:p>
              <a:p>
                <a:r>
                  <a:rPr lang="en-US" altLang="zh-CN" b="1"/>
                  <a:t>SFT</a:t>
                </a:r>
                <a:r>
                  <a:rPr lang="zh-CN" altLang="en-US" b="1"/>
                  <a:t>训练：</a:t>
                </a:r>
                <a:endParaRPr lang="en-US" altLang="zh-CN" b="1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zh-CN" altLang="zh-CN"/>
                  <a:t>agent 输入：pass2 特征 f</a:t>
                </a:r>
                <a:r>
                  <a:rPr lang="en-US" altLang="zh-CN"/>
                  <a:t> / </a:t>
                </a:r>
                <a:r>
                  <a:rPr lang="zh-CN" altLang="en-US"/>
                  <a:t>视频</a:t>
                </a:r>
                <a:r>
                  <a:rPr lang="en-US" altLang="zh-CN"/>
                  <a:t>v</a:t>
                </a:r>
                <a:endParaRPr lang="zh-CN" altLang="zh-CN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zh-CN" altLang="zh-CN"/>
                  <a:t>agent 输出：参数分布</a:t>
                </a:r>
                <a:r>
                  <a:rPr lang="zh-CN" altLang="en-US"/>
                  <a:t>（连续 </a:t>
                </a:r>
                <a:r>
                  <a:rPr lang="en-US" altLang="zh-CN"/>
                  <a:t>/ </a:t>
                </a:r>
                <a:r>
                  <a:rPr lang="zh-CN" altLang="en-US"/>
                  <a:t>离散）</a:t>
                </a:r>
                <a:endParaRPr lang="en-US" altLang="zh-CN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en-US" altLang="zh-CN"/>
                  <a:t>Loss</a:t>
                </a:r>
                <a:r>
                  <a:rPr lang="zh-CN" altLang="en-US"/>
                  <a:t>：</a:t>
                </a:r>
                <a:r>
                  <a:rPr lang="zh-CN" altLang="zh-CN"/>
                  <a:t>连续参数：NLL（负对数似然）或 MSE</a:t>
                </a:r>
                <a:r>
                  <a:rPr lang="zh-CN" altLang="en-US"/>
                  <a:t>；</a:t>
                </a:r>
                <a:r>
                  <a:rPr lang="zh-CN" altLang="zh-CN"/>
                  <a:t>离散参数：交叉熵</a:t>
                </a:r>
                <a:endParaRPr lang="zh-CN" altLang="en-US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endParaRPr lang="en-US" altLang="zh-CN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CAB456D-6C1D-5282-5F6E-792569CC8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62" y="697831"/>
                <a:ext cx="11467811" cy="5909310"/>
              </a:xfrm>
              <a:prstGeom prst="rect">
                <a:avLst/>
              </a:prstGeom>
              <a:blipFill>
                <a:blip r:embed="rId3"/>
                <a:stretch>
                  <a:fillRect l="-585" t="-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2579FCD-BA6D-6858-FA50-828298A218BF}"/>
              </a:ext>
            </a:extLst>
          </p:cNvPr>
          <p:cNvSpPr txBox="1"/>
          <p:nvPr/>
        </p:nvSpPr>
        <p:spPr>
          <a:xfrm>
            <a:off x="801587" y="24316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方案</a:t>
            </a:r>
            <a:r>
              <a:rPr lang="en-US" altLang="zh-CN" b="1"/>
              <a:t>2</a:t>
            </a:r>
            <a:r>
              <a:rPr lang="zh-CN" altLang="en-US" b="1"/>
              <a:t>：</a:t>
            </a:r>
            <a:r>
              <a:rPr lang="zh-CN" altLang="zh-CN" b="1"/>
              <a:t>SFT + DPO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30533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9E34-8933-D886-6D8D-0C69FF22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6FDE940B-7BBC-D56D-47B8-3014A3892D5F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F01F93-95C4-6CA0-787F-983A2874249A}"/>
              </a:ext>
            </a:extLst>
          </p:cNvPr>
          <p:cNvSpPr txBox="1"/>
          <p:nvPr/>
        </p:nvSpPr>
        <p:spPr>
          <a:xfrm>
            <a:off x="801587" y="245326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/>
              <a:t>方案</a:t>
            </a:r>
            <a:r>
              <a:rPr lang="en-US" altLang="zh-CN" sz="1800" b="1"/>
              <a:t>2</a:t>
            </a:r>
            <a:r>
              <a:rPr lang="zh-CN" altLang="en-US" sz="1800" b="1"/>
              <a:t>：</a:t>
            </a:r>
            <a:r>
              <a:rPr lang="zh-CN" altLang="zh-CN" sz="1800" b="1"/>
              <a:t>SFT + DPO</a:t>
            </a:r>
            <a:endParaRPr lang="zh-CN" altLang="en-US" sz="1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923BBE7-8E19-02E4-F482-FDFC59F07584}"/>
                  </a:ext>
                </a:extLst>
              </p:cNvPr>
              <p:cNvSpPr txBox="1"/>
              <p:nvPr/>
            </p:nvSpPr>
            <p:spPr>
              <a:xfrm>
                <a:off x="481263" y="667752"/>
                <a:ext cx="11038974" cy="6216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/>
                  <a:t>Reward </a:t>
                </a:r>
                <a:r>
                  <a:rPr lang="zh-CN" altLang="en-US" b="1"/>
                  <a:t>函数：</a:t>
                </a:r>
                <a:endParaRPr lang="en-US" altLang="zh-CN" b="1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zh-CN"/>
                  <a:t>BD-rate 是曲线级指标，需要多个码率点才能计算，不适合做每步训练奖励。</a:t>
                </a:r>
                <a:endParaRPr lang="en-US" altLang="zh-CN"/>
              </a:p>
              <a:p>
                <a:r>
                  <a:rPr lang="zh-CN" altLang="zh-CN"/>
                  <a:t>用</a:t>
                </a:r>
                <a:r>
                  <a:rPr lang="zh-CN" altLang="zh-CN" b="1"/>
                  <a:t>单点相对改进</a:t>
                </a:r>
                <a:r>
                  <a:rPr lang="zh-CN" altLang="zh-CN"/>
                  <a:t>作为训练奖励，BD-rate 作为最终评估指标。</a:t>
                </a:r>
                <a:endParaRPr lang="en-US" altLang="zh-CN"/>
              </a:p>
              <a:p>
                <a:endParaRPr lang="en-US" altLang="zh-CN"/>
              </a:p>
              <a:p>
                <a14:m>
                  <m:oMathPara xmlns:m="http://schemas.openxmlformats.org/officeDocument/2006/math">
                    <m:oMath>
                      <m:r>
                        <a:rPr lang="zh-CN" altLang="zh-CN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zh-C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zh-CN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i="0">
                              <a:latin typeface="Cambria Math" panose="02040503050406030204" pitchFamily="18" charset="0"/>
                            </a:rPr>
                            <m:t>bpp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zh-CN" altLang="zh-CN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bpp</m:t>
                              </m:r>
                            </m:e>
                            <m:sub>
                              <m: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bpp</m:t>
                              </m:r>
                            </m:e>
                            <m:sub>
                              <m: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zh-CN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zh-CN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i="0">
                              <a:latin typeface="Cambria Math" panose="02040503050406030204" pitchFamily="18" charset="0"/>
                            </a:rPr>
                            <m:t>lpips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zh-CN" altLang="zh-CN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lpips</m:t>
                              </m:r>
                            </m:e>
                            <m:sub>
                              <m: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lpips</m:t>
                              </m:r>
                            </m:e>
                            <m:sub>
                              <m:r>
                                <a:rPr lang="zh-CN" altLang="zh-C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/>
              </a:p>
              <a:p>
                <a:r>
                  <a:rPr lang="zh-CN" altLang="zh-CN" b="1"/>
                  <a:t>偏好对构造</a:t>
                </a:r>
                <a:r>
                  <a:rPr lang="zh-CN" altLang="en-US" b="1"/>
                  <a:t>：</a:t>
                </a:r>
                <a:endParaRPr lang="en-US" altLang="zh-CN" b="1"/>
              </a:p>
              <a:p>
                <a:r>
                  <a:rPr lang="zh-CN" altLang="zh-CN"/>
                  <a:t>1. 从当前策略 π_φ 采样:</a:t>
                </a:r>
              </a:p>
              <a:p>
                <a:r>
                  <a:rPr lang="zh-CN" altLang="zh-CN"/>
                  <a:t>   a_A ~ π_φ(·|f)</a:t>
                </a:r>
                <a:r>
                  <a:rPr lang="zh-CN" altLang="en-US"/>
                  <a:t>；</a:t>
                </a:r>
                <a:r>
                  <a:rPr lang="zh-CN" altLang="zh-CN"/>
                  <a:t>a_B ~ π_φ(·|f)</a:t>
                </a:r>
              </a:p>
              <a:p>
                <a:endParaRPr lang="zh-CN" altLang="zh-CN"/>
              </a:p>
              <a:p>
                <a:r>
                  <a:rPr lang="zh-CN" altLang="zh-CN"/>
                  <a:t>2. pass3 编码:</a:t>
                </a:r>
              </a:p>
              <a:p>
                <a:r>
                  <a:rPr lang="zh-CN" altLang="zh-CN"/>
                  <a:t>   (bpp_A, lpips_A) = encode(video, a_A)</a:t>
                </a:r>
              </a:p>
              <a:p>
                <a:r>
                  <a:rPr lang="zh-CN" altLang="zh-CN"/>
                  <a:t>   (bpp_B, lpips_B) = encode(video, a_B)</a:t>
                </a:r>
              </a:p>
              <a:p>
                <a:endParaRPr lang="zh-CN" altLang="zh-CN"/>
              </a:p>
              <a:p>
                <a:r>
                  <a:rPr lang="zh-CN" altLang="zh-CN"/>
                  <a:t>3. 计算奖励:</a:t>
                </a:r>
              </a:p>
              <a:p>
                <a:r>
                  <a:rPr lang="zh-CN" altLang="zh-CN"/>
                  <a:t>   R_A = reward(bpp_A, lpips_A, anchor)</a:t>
                </a:r>
              </a:p>
              <a:p>
                <a:r>
                  <a:rPr lang="zh-CN" altLang="zh-CN"/>
                  <a:t>   R_B = reward(bpp_B, lpips_B, anchor)</a:t>
                </a:r>
              </a:p>
              <a:p>
                <a:endParaRPr lang="zh-CN" altLang="zh-CN"/>
              </a:p>
              <a:p>
                <a:r>
                  <a:rPr lang="zh-CN" altLang="zh-CN"/>
                  <a:t>4. 确定偏好:</a:t>
                </a:r>
              </a:p>
              <a:p>
                <a:r>
                  <a:rPr lang="zh-CN" altLang="zh-CN"/>
                  <a:t>   if R_A &gt; R_B: winner = a_A, loser = a_B</a:t>
                </a:r>
              </a:p>
              <a:p>
                <a:r>
                  <a:rPr lang="zh-CN" altLang="zh-CN"/>
                  <a:t>   else: winner = a_B, loser = a_A</a:t>
                </a:r>
              </a:p>
              <a:p>
                <a:endParaRPr lang="zh-CN" altLang="en-US" b="1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923BBE7-8E19-02E4-F482-FDFC59F07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3" y="667752"/>
                <a:ext cx="11038974" cy="6216895"/>
              </a:xfrm>
              <a:prstGeom prst="rect">
                <a:avLst/>
              </a:prstGeom>
              <a:blipFill>
                <a:blip r:embed="rId3"/>
                <a:stretch>
                  <a:fillRect l="-497" t="-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39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50C9A-C9EF-EF2C-DF44-3C35B52F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9CE1224C-ACB2-723F-3FB4-18431FF8ACB7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ED2D8E-DDFA-1501-44E8-EAAF70F7AF86}"/>
              </a:ext>
            </a:extLst>
          </p:cNvPr>
          <p:cNvSpPr txBox="1"/>
          <p:nvPr/>
        </p:nvSpPr>
        <p:spPr>
          <a:xfrm>
            <a:off x="801587" y="245326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/>
              <a:t>方案</a:t>
            </a:r>
            <a:r>
              <a:rPr lang="en-US" altLang="zh-CN" sz="1800" b="1"/>
              <a:t>2</a:t>
            </a:r>
            <a:r>
              <a:rPr lang="zh-CN" altLang="en-US" sz="1800" b="1"/>
              <a:t>：</a:t>
            </a:r>
            <a:r>
              <a:rPr lang="zh-CN" altLang="zh-CN" sz="1800" b="1"/>
              <a:t>SFT + DPO</a:t>
            </a:r>
            <a:endParaRPr lang="zh-CN" altLang="en-US" sz="18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2F7D39-F62E-5BC7-63E8-BAD4EB064329}"/>
              </a:ext>
            </a:extLst>
          </p:cNvPr>
          <p:cNvSpPr txBox="1"/>
          <p:nvPr/>
        </p:nvSpPr>
        <p:spPr>
          <a:xfrm>
            <a:off x="431421" y="717156"/>
            <a:ext cx="1036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训练模式：</a:t>
            </a:r>
            <a:endParaRPr lang="en-US" altLang="zh-CN" b="1"/>
          </a:p>
          <a:p>
            <a:r>
              <a:rPr lang="en-US" altLang="zh-CN" b="1"/>
              <a:t>	</a:t>
            </a:r>
          </a:p>
          <a:p>
            <a:endParaRPr lang="zh-CN" altLang="en-US" b="1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7743802-D902-2189-FCE6-7082471E4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08918"/>
              </p:ext>
            </p:extLst>
          </p:nvPr>
        </p:nvGraphicFramePr>
        <p:xfrm>
          <a:off x="838200" y="1330575"/>
          <a:ext cx="10515600" cy="164592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724525">
                  <a:extLst>
                    <a:ext uri="{9D8B030D-6E8A-4147-A177-3AD203B41FA5}">
                      <a16:colId xmlns:a16="http://schemas.microsoft.com/office/drawing/2014/main" val="1710845847"/>
                    </a:ext>
                  </a:extLst>
                </a:gridCol>
                <a:gridCol w="3533275">
                  <a:extLst>
                    <a:ext uri="{9D8B030D-6E8A-4147-A177-3AD203B41FA5}">
                      <a16:colId xmlns:a16="http://schemas.microsoft.com/office/drawing/2014/main" val="1981884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5503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6274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模式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做法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优点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缺点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5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在线 DPO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每步从当前策略采样、编码、更新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策略最新，效果好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编码慢的话训练效率低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89519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离线 DPO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预先采样大量参数对并编码，保存为固定数据集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编码只做一次，训练快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effectLst/>
                        </a:rPr>
                        <a:t>策略更新后数据过时，需要定期刷新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3404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432D609-AD30-B231-8EDF-76A2800B7E8C}"/>
              </a:ext>
            </a:extLst>
          </p:cNvPr>
          <p:cNvSpPr txBox="1"/>
          <p:nvPr/>
        </p:nvSpPr>
        <p:spPr>
          <a:xfrm>
            <a:off x="431421" y="3166243"/>
            <a:ext cx="916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Pass3 </a:t>
            </a:r>
            <a:r>
              <a:rPr lang="zh-CN" altLang="en-US"/>
              <a:t>编码可以批量加速 </a:t>
            </a:r>
            <a:r>
              <a:rPr lang="en-US" altLang="zh-CN"/>
              <a:t>-&gt; </a:t>
            </a:r>
            <a:r>
              <a:rPr lang="zh-CN" altLang="en-US"/>
              <a:t>在线</a:t>
            </a:r>
            <a:r>
              <a:rPr lang="en-US" altLang="zh-CN"/>
              <a:t>DPO</a:t>
            </a:r>
          </a:p>
          <a:p>
            <a:r>
              <a:rPr lang="en-US" altLang="zh-CN"/>
              <a:t>Pass3 </a:t>
            </a:r>
            <a:r>
              <a:rPr lang="zh-CN" altLang="en-US"/>
              <a:t>编码很慢 </a:t>
            </a:r>
            <a:r>
              <a:rPr lang="en-US" altLang="zh-CN"/>
              <a:t>-&gt; </a:t>
            </a:r>
            <a:r>
              <a:rPr lang="zh-CN" altLang="en-US"/>
              <a:t>离线</a:t>
            </a:r>
            <a:r>
              <a:rPr lang="en-US" altLang="zh-CN"/>
              <a:t>DPO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19AF1A-F83F-B449-0B3E-31414A6B9B62}"/>
              </a:ext>
            </a:extLst>
          </p:cNvPr>
          <p:cNvSpPr txBox="1"/>
          <p:nvPr/>
        </p:nvSpPr>
        <p:spPr>
          <a:xfrm>
            <a:off x="431421" y="3935648"/>
            <a:ext cx="111670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提升主观质量改进点：</a:t>
            </a:r>
            <a:endParaRPr lang="en-US" altLang="zh-CN" b="1"/>
          </a:p>
          <a:p>
            <a:r>
              <a:rPr lang="en-US" altLang="zh-CN"/>
              <a:t>   </a:t>
            </a:r>
            <a:r>
              <a:rPr lang="zh-CN" altLang="zh-CN"/>
              <a:t>把偏好对的来源从 “纯</a:t>
            </a:r>
            <a:r>
              <a:rPr lang="zh-CN" altLang="en-US"/>
              <a:t>代理</a:t>
            </a:r>
            <a:r>
              <a:rPr lang="zh-CN" altLang="zh-CN"/>
              <a:t>规则（BPP+LPIPS）” </a:t>
            </a:r>
            <a:r>
              <a:rPr lang="zh-CN" altLang="en-US"/>
              <a:t>改为</a:t>
            </a:r>
            <a:r>
              <a:rPr lang="zh-CN" altLang="zh-CN"/>
              <a:t> “VLM</a:t>
            </a:r>
            <a:r>
              <a:rPr lang="zh-CN" altLang="en-US"/>
              <a:t>评价</a:t>
            </a:r>
            <a:r>
              <a:rPr lang="zh-CN" altLang="zh-CN"/>
              <a:t> + 规则的集成”</a:t>
            </a:r>
            <a:r>
              <a:rPr lang="zh-CN" altLang="en-US"/>
              <a:t>，引入语义级别的主观质量判断</a:t>
            </a:r>
            <a:endParaRPr lang="en-US" altLang="zh-CN"/>
          </a:p>
          <a:p>
            <a:endParaRPr lang="en-US" altLang="zh-CN" b="1"/>
          </a:p>
          <a:p>
            <a:r>
              <a:rPr lang="zh-CN" altLang="en-US" b="1"/>
              <a:t>具体：</a:t>
            </a:r>
            <a:endParaRPr lang="en-US" altLang="zh-CN" b="1"/>
          </a:p>
          <a:p>
            <a:pPr lvl="1"/>
            <a:r>
              <a:rPr lang="zh-CN" altLang="zh-CN"/>
              <a:t>1. VLM 判断：VLM 认为 v_A 的主观质量 &gt; v_B？</a:t>
            </a:r>
          </a:p>
          <a:p>
            <a:pPr lvl="1"/>
            <a:r>
              <a:rPr lang="zh-CN" altLang="zh-CN"/>
              <a:t>2. LPIPS 判断：LPIPS(v_A) &lt; LPIPS(v_B)？</a:t>
            </a:r>
          </a:p>
          <a:p>
            <a:pPr lvl="1"/>
            <a:r>
              <a:rPr lang="zh-CN" altLang="zh-CN"/>
              <a:t>3. BPP 判断：bpp(v_A) &lt; bpp(v_B)？</a:t>
            </a:r>
          </a:p>
          <a:p>
            <a:pPr lvl="1"/>
            <a:r>
              <a:rPr lang="zh-CN" altLang="zh-CN"/>
              <a:t>4. 集成 </a:t>
            </a:r>
            <a:r>
              <a:rPr lang="en-US" altLang="zh-CN"/>
              <a:t>-&gt;</a:t>
            </a:r>
            <a:r>
              <a:rPr lang="zh-CN" altLang="zh-CN"/>
              <a:t> 确定 winner/loser</a:t>
            </a:r>
            <a:r>
              <a:rPr lang="en-US" altLang="zh-CN"/>
              <a:t> </a:t>
            </a:r>
            <a:r>
              <a:rPr lang="zh-CN" altLang="en-US"/>
              <a:t>偏好对</a:t>
            </a:r>
            <a:endParaRPr lang="zh-CN" altLang="zh-CN"/>
          </a:p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17930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DD5F-AD5F-393B-E2A7-AA3937F8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103B395C-F9B0-AEAF-951D-6993C332D462}"/>
              </a:ext>
            </a:extLst>
          </p:cNvPr>
          <p:cNvSpPr/>
          <p:nvPr/>
        </p:nvSpPr>
        <p:spPr>
          <a:xfrm rot="-1800000">
            <a:off x="473810" y="260672"/>
            <a:ext cx="285388" cy="24602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F74C08-4FC2-5A8C-4D36-A6FCFF7B6EF1}"/>
              </a:ext>
            </a:extLst>
          </p:cNvPr>
          <p:cNvSpPr txBox="1"/>
          <p:nvPr/>
        </p:nvSpPr>
        <p:spPr>
          <a:xfrm>
            <a:off x="801587" y="238397"/>
            <a:ext cx="10846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VLIC: Vision-Language Models As Perceptual Judges for Human-Aligned Image Compression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16F4E1-923B-1F29-A41F-0AE496A344D3}"/>
              </a:ext>
            </a:extLst>
          </p:cNvPr>
          <p:cNvSpPr txBox="1"/>
          <p:nvPr/>
        </p:nvSpPr>
        <p:spPr>
          <a:xfrm>
            <a:off x="503227" y="711881"/>
            <a:ext cx="113471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为什么可以使用</a:t>
            </a:r>
            <a:r>
              <a:rPr lang="en-US" altLang="zh-CN" b="1"/>
              <a:t>VLM</a:t>
            </a:r>
            <a:r>
              <a:rPr lang="zh-CN" altLang="en-US" b="1"/>
              <a:t>？</a:t>
            </a:r>
            <a:endParaRPr lang="en-US" altLang="zh-CN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/>
              <a:t>使用 </a:t>
            </a:r>
            <a:r>
              <a:rPr lang="en-US" altLang="zh-CN"/>
              <a:t>Gemini 2.5-Flash </a:t>
            </a:r>
            <a:r>
              <a:rPr lang="zh-CN" altLang="en-US"/>
              <a:t>作为感知裁判，与</a:t>
            </a:r>
            <a:r>
              <a:rPr lang="en-US" altLang="zh-CN"/>
              <a:t>LPIPS</a:t>
            </a:r>
            <a:r>
              <a:rPr lang="zh-CN" altLang="en-US"/>
              <a:t>代理的评判结果几乎打平</a:t>
            </a:r>
            <a:endParaRPr lang="en-US" altLang="zh-CN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/>
              <a:t>压缩图像数据集上，</a:t>
            </a:r>
            <a:r>
              <a:rPr lang="en-US" altLang="zh-CN"/>
              <a:t>VLM</a:t>
            </a:r>
            <a:r>
              <a:rPr lang="zh-CN" altLang="en-US"/>
              <a:t>的准确率 </a:t>
            </a:r>
            <a:r>
              <a:rPr lang="en-US" altLang="zh-CN"/>
              <a:t>&gt;&gt; </a:t>
            </a:r>
            <a:r>
              <a:rPr lang="zh-CN" altLang="en-US"/>
              <a:t>单个人类评判结果</a:t>
            </a:r>
            <a:endParaRPr lang="en-US" altLang="zh-CN"/>
          </a:p>
          <a:p>
            <a:endParaRPr lang="en-US" altLang="zh-CN"/>
          </a:p>
          <a:p>
            <a:r>
              <a:rPr lang="zh-CN" altLang="en-US" b="1"/>
              <a:t>具体应用</a:t>
            </a:r>
            <a:r>
              <a:rPr lang="en-US" altLang="zh-CN" b="1"/>
              <a:t>:</a:t>
            </a:r>
          </a:p>
          <a:p>
            <a:r>
              <a:rPr lang="en-US" altLang="zh-CN"/>
              <a:t>      </a:t>
            </a:r>
            <a:r>
              <a:rPr lang="zh-CN" altLang="zh-CN"/>
              <a:t>基于扩散的图像压缩系统，专门设计为使用二元的VLM判断进行后训练。利用扩散模型偏好优化工具，直接把VLM判断作为非可微的奖励信号。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b="1"/>
              <a:t>迁移到视频画质评价</a:t>
            </a:r>
            <a:r>
              <a:rPr lang="zh-CN" altLang="en-US"/>
              <a:t>：需要</a:t>
            </a:r>
            <a:r>
              <a:rPr lang="zh-CN" altLang="en-US" b="1"/>
              <a:t>验证视频</a:t>
            </a:r>
            <a:r>
              <a:rPr lang="en-US" altLang="zh-CN" b="1"/>
              <a:t>2AFC</a:t>
            </a:r>
            <a:r>
              <a:rPr lang="zh-CN" altLang="en-US" b="1"/>
              <a:t>评价</a:t>
            </a:r>
            <a:r>
              <a:rPr lang="zh-CN" altLang="en-US"/>
              <a:t>，结果与</a:t>
            </a:r>
            <a:r>
              <a:rPr lang="en-US" altLang="zh-CN"/>
              <a:t>LIPIPS</a:t>
            </a:r>
            <a:r>
              <a:rPr lang="zh-CN" altLang="en-US"/>
              <a:t>代理以及人类评判结果接近（应该是差不多的，</a:t>
            </a:r>
            <a:r>
              <a:rPr lang="en-US" altLang="zh-CN"/>
              <a:t>VLM</a:t>
            </a:r>
            <a:r>
              <a:rPr lang="zh-CN" altLang="en-US"/>
              <a:t>本身对于视频也是抽帧处理）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b="1"/>
              <a:t>扩展到视频评价的优势：</a:t>
            </a:r>
            <a:endParaRPr lang="en-US" altLang="zh-CN" b="1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/>
              <a:t>VLM</a:t>
            </a:r>
            <a:r>
              <a:rPr lang="zh-CN" altLang="en-US"/>
              <a:t>可以理解什么内容值得保护，（传统</a:t>
            </a:r>
            <a:r>
              <a:rPr lang="en-US" altLang="zh-CN"/>
              <a:t>PSNR</a:t>
            </a:r>
            <a:r>
              <a:rPr lang="zh-CN" altLang="en-US"/>
              <a:t>和</a:t>
            </a:r>
            <a:r>
              <a:rPr lang="en-US" altLang="zh-CN"/>
              <a:t>LIPIPS</a:t>
            </a:r>
            <a:r>
              <a:rPr lang="zh-CN" altLang="en-US"/>
              <a:t>很难显示建模）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/>
              <a:t>VLM</a:t>
            </a:r>
            <a:r>
              <a:rPr lang="zh-CN" altLang="en-US"/>
              <a:t>可以评价时间一致性，（很多视频 </a:t>
            </a:r>
            <a:r>
              <a:rPr lang="en-US" altLang="zh-CN"/>
              <a:t>badcase</a:t>
            </a:r>
            <a:r>
              <a:rPr lang="zh-CN" altLang="en-US"/>
              <a:t>根本不是单帧问题，</a:t>
            </a:r>
            <a:r>
              <a:rPr lang="zh-CN" altLang="zh-CN"/>
              <a:t>Flicker</a:t>
            </a:r>
            <a:r>
              <a:rPr lang="zh-CN" altLang="en-US"/>
              <a:t>等）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/>
          </a:p>
          <a:p>
            <a:r>
              <a:rPr lang="en-US" altLang="zh-CN" b="1"/>
              <a:t>Pairwise Comparison </a:t>
            </a:r>
            <a:r>
              <a:rPr lang="zh-CN" altLang="en-US" b="1"/>
              <a:t>不是 让</a:t>
            </a:r>
            <a:r>
              <a:rPr lang="en-US" altLang="zh-CN" b="1"/>
              <a:t>VLM</a:t>
            </a:r>
            <a:r>
              <a:rPr lang="zh-CN" altLang="en-US" b="1"/>
              <a:t>直接打 </a:t>
            </a:r>
            <a:r>
              <a:rPr lang="en-US" altLang="zh-CN" b="1"/>
              <a:t>MOS</a:t>
            </a:r>
          </a:p>
          <a:p>
            <a:endParaRPr lang="en-US" altLang="zh-CN"/>
          </a:p>
          <a:p>
            <a:r>
              <a:rPr lang="zh-CN" altLang="en-US" b="1"/>
              <a:t>具体应用：</a:t>
            </a:r>
            <a:endParaRPr lang="en-US" altLang="zh-CN" b="1"/>
          </a:p>
          <a:p>
            <a:r>
              <a:rPr lang="zh-CN" altLang="zh-CN"/>
              <a:t>Reference Video+VideoA​+VideoB​→VLM→Pairwise Preference</a:t>
            </a:r>
          </a:p>
        </p:txBody>
      </p:sp>
    </p:spTree>
    <p:extLst>
      <p:ext uri="{BB962C8B-B14F-4D97-AF65-F5344CB8AC3E}">
        <p14:creationId xmlns:p14="http://schemas.microsoft.com/office/powerpoint/2010/main" val="169260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13489</TotalTime>
  <Words>2921</Words>
  <Application>Microsoft Office PowerPoint</Application>
  <PresentationFormat>宽屏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HL Tian</cp:lastModifiedBy>
  <cp:revision>350</cp:revision>
  <dcterms:created xsi:type="dcterms:W3CDTF">2024-12-30T12:20:00Z</dcterms:created>
  <dcterms:modified xsi:type="dcterms:W3CDTF">2026-08-27T13:19:25Z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